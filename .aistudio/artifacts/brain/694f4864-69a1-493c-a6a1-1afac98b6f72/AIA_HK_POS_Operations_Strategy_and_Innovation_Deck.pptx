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 AIA Hong Kong Policy Owner Services (POS))
Welcome executive leadership. This deck encapsulates our comprehensive operational agenda for AIA HK Policy Owner Services. We will review our strategic pillars, functional project commitments, and the concrete lessons learned and innovations delivered across 2026.
STRATEGIC TAKEAWAYS:
• POS Operations is advancing on three unified fronts: People Resilience, Systems Automation, and Rigorous Governance.
• Execution spans day-to-day servicing (BAU) through enterprise-level partnerships (IBM, CitiDirect, Nice Actimize).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2: Operations Overall Strategy: Three Core Pillars)
Our operations strategy rests on human capability. Without change resilience and sustainable workloads, large-scale automation projects fail to achieve operational adoption. We are shifting from reactive firefighting to proactive, accountable case stewardship.
STRATEGIC TAKEAWAYS:
• Change resilience is our bedrock: we equip teams to actively shape improvements rather than reactively absorb changes.
• Sustainable workload management directly protects accuracy and reduces risk in high-stakes regulatory processing.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3: BAU Modernization: Digital OTP Verification &amp; Pending Revamp)
Slide 3 covers our core BAU commitments. For years, signature discrepancy pending notices caused frustration between agents and POS. With OTP verification in iChange and 510-character clear dual-language pending messages, we cut rework at the source.
STRATEGIC TAKEAWAYS:
• Signature discrepancies represent one of our largest historical pending drivers; OTP is the structural cure.
• Expanding message character limits from 70 to 510 characters eradicates ambiguous instructions and agent confusion.
REGULATORY COMPLIANCE GUARDRAIL:
OTP expansion across high-risk transaction types remains subject to Legal &amp; Compliance risk assessment and HKMA/IA guidelines.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4: Automation Priority: IBM POS Modernization &amp; Systems Integration)
Slide 4 presents our largest technology capital investment: the IBM POS Modernization. IBM is acting as our end-to-end Systems Integrator. They are deploying 30 microservices APIs over a strict 26-week cadence with 60 days of post-implementation hypercare.
STRATEGIC TAKEAWAYS:
• IBM is on the hook for concrete code delivery, not just high-level PowerPoint roadmaps.
• The ~30 APIs unlock straight-through processing for policy alterations, directly powering our digital customer journeys.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5: Governance: GenAI Project on Anti-Money Laundering (AML))
Slide 5 highlights our GenAI AML initiative. We are partnering with Nice Actimize, targeting Q1 2027 for phase 1. Generative AI will synthesize complex customer dossiers and Dow Jones media hits, dramatically cutting manual research time while ensuring Senior Management has full auditability.
STRATEGIC TAKEAWAYS:
• GenAI dramatically cuts false-positive research time while strengthening audit consistency.
• Strict human-in-the-loop governance: AI assists and synthesizes, but Senior Management retains ultimate sign-off.
REGULATORY COMPLIANCE GUARDRAIL:
Full alignment with HKMA AML/CFT guidelines and Insurance Authority Guideline on Anti-Money Laundering (GL3).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6: Governance: CRS 2.0 Development &amp; CRS Statement Project)
Slide 6 outlines our CRS 2.0 roadmap. The OECD has tightened due diligence requirements significantly. The administrative framework becomes effective on 1 January 2027, followed by the reporting mandate on 1 January 2028. Our joint workgroup is also pioneering a customer-facing CRS Statement to facilitate tax declaration.
STRATEGIC TAKEAWAYS:
• CRS 2.0 requires extensive systemic re-plumbing of account records and continuous due diligence.
• The CRS Statement project converts a pure regulatory burden into a high-value customer service touchpoint.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7: Governance: Risk &amp; Compliance Engineering &amp; IRD Remediation)
Slide 7 details our response to IRD and GIA audit recommendations. We have taken the findings from the 700 policy review cases and baked them directly into automated rule engines. We are also integrating eKYC into AIA+ and iChange to collect updated HK Smart IDs digitally.
STRATEGIC TAKEAWAYS:
• GIA and IRD audit feedback is systematically converted into automated software rules rather than manual checklists.
• Smart ID eKYC collection in AIA+ ensures regulatory document compliance without requiring branch paper submissions.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8: HNW Priority: Handler Readiness &amp; Agency Distribution Expansion)
Slide 8 presents our High-Net-Worth servicing expansion. Historically, our HNW unit supported brokerage and bancassurance. We are now extending this dedicated servicing model to the agency force, supported by TxH training visits to build deep technical readiness in trusts and assignments.
STRATEGIC TAKEAWAYS:
• Agency expansion creates substantial new business momentum by bringing institutional HNW servicing to top agents.
• TxH training empowers frontline staff to handle intricate trusts and assignments without operational bottlenecks.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9: Business Partner: One Stop Case Resolution &amp; AI Onboarding)
Slide 9 details our One Stop Case Resolution strategy. We assign a dedicated Business Partner as the single point of contact. This eliminates ping-pong between departments while maintaining strict segregation of duties for approvals. We are also deploying an AI learning assistant to onboard staff in weeks rather than months.
STRATEGIC TAKEAWAYS:
• The Business Partner acts as the single quarterback for the case, shielding the customer from internal handoffs.
• AI-powered learning assistants ensure rapid staff readiness, preventing knowledge loss and operational errors.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10: Cashier Priority: 24/7 Virtual Cashier (CDM Kiosk) Feasibility)
Slide 10 reviews the Virtual Cashier kiosk feasibility study. We are evaluating 24/7 self-service terminals capable of verifying authorized payors and accepting cash, cheques, credit cards, and e-payments. A thorough ROI evaluation is underway before full-scale hardware deployment.
STRATEGIC TAKEAWAYS:
• The Virtual Cashier delivers 24/7 premium settlement flexibility for customers outside traditional branch banking hours.
• Rigorous ROI feasibility ensures capital is deployed effectively, balancing hardware costs against physical counter savings.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11: Payment Solutions: Stablecoin Exploration &amp; Accelerated Autopay)
Slide 11 highlights our payment rail transformation. Through CitiDirect and FPS Autopay, we are shortening the setup cycle from 2 months to just 2 weeks. On the innovation front, we are actively engaged with banks exploring stablecoin premium payments pending regulatory clearances.
STRATEGIC TAKEAWAYS:
• Compressing Autopay setup from 2 months to 2 weeks eliminates a major customer pain point and reduces policy lapse risk.
• Stablecoin engagement ensures AIA remains ahead of digital asset developments in the Hong Kong financial ecosystem.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12: Payment Continuity: Project Bamboo &amp; Strengthened AML Controls)
Slide 12 covers Project Bamboo and payment AML. Project Bamboo ensures the AIAE-to-AIAI portfolio transfer maintains 100% payment continuity across all Autopay and credit card channels. Simultaneously, we are strengthening bank-draft AML monitoring.
STRATEGIC TAKEAWAYS:
• Project Bamboo safeguards recurring revenue streams during complex corporate entity restructuring.
• Payment risk controls ensure stringent bank-draft monitoring without introducing unnecessary friction for legitimate customers.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13: Lessons Learned 1: Witness Signature Streamlining &amp; POS Tips)
Slide 13 reflects on our 2026 BAU simplifications. We streamlined the witness signature requirement, eliminating bureaucratic waste while safeguarding controls. Additionally, our Bi-monthly POS Tips initiative established an open educational channel that cut recurring agent submission errors.
STRATEGIC TAKEAWAYS:
• Administrative rules must be continually audited: unnecessary steps frustrate customers without adding risk protection.
• Proactive education through Bi-Monthly POS Tips prevents errors before they reach our processing queues.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14: Lessons Learned 2: Product "SelectWise" In-Line Declaration)
Slide 14 details the SelectWise plan-change breakthrough. Previously, when policyholders with existing loadings or exclusions changed plans, we had to issue pending notices to get signed confirmations. By embedding the declaration upfront, we eliminated this entire cycle.
STRATEGIC TAKEAWAYS:
• Embedding declarations upfront prevents avoidable pending cycles that previously paralyzed plan-change processing.
• This pattern proves that legal clarity and operational speed can be achieved simultaneously through smart form design.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15: Lessons Learned 3: Change of Ownership Digital Leap)
Slide 15 highlights our Change of Ownership digital breakthrough. By linking iChange with iVerify, we unified identity verification. Then, by piping that data automatically into POSA, our staff no longer manually re-keys information, drastically reducing touch time and errors.
STRATEGIC TAKEAWAYS:
• Bridging customer-facing portals with internal staff platforms eliminates the dreaded manual data re-entry trap.
• Change of Ownership is one of our highest-risk transactions; digital verification ensures flawless compliance.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16: Lessons Learned 4: Mandatory e-Advice Transformation)
Slide 16 details our Mandatory e-Advice transition. We transitioned eligible policy statements and billing notices from paper to digital channels like AIA+ and email. This generated significant cost savings in postage and printing while advancing our corporate ESG environmental commitments.
STRATEGIC TAKEAWAYS:
• Mandatory e-Advice modernizes customer communications while unlocking permanent structural cost savings.
• Thoughtful advance communication and exception management prevented customer friction during the transition.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17: Lessons Learned 5: IRD CRS Audit &amp; MonQ HNW Framework)
Slide 17 covers our regulatory audit defense and HNW operational milestones. In November 2026, we supported the IRD on-site CRS inspection covering 700 accounts across three entities. Meanwhile, we launched MonQ on 18 May and our SLA framework on 1 June, completing engagement with Mercer.
STRATEGIC TAKEAWAYS:
• Defending 700 accounts before the IRD proved that our operational documentation and audit trails are rock-solid.
• MonQ transformed HNW servicing from an opaque queue into a transparent, SLA-governed competitive differentiator.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SPEAKER NOTES (Slide 18: Lessons Learned 6: Citibank Lockbox Migration &amp; Payment Security)
Our final slide reviews the security modernization of our payment infrastructure. In 2026, we managed the critical transition when Citibank discontinued their commercial lockbox, establishing a sustainable cashier model. We also retired legacy WS_FTP and Secure Mini-Storage in favor of CitiDirect.
STRATEGIC TAKEAWAYS:
• Retiring legacy WS_FTP and Secure Mini-Storage eliminates severe security liabilities from our payment perimeter.
• The cashier-managed cheque model protected premium continuity when Citibank discontinued commercial lockbox services.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01 · OVERALL STRATEGY   |   AIA HONG KONG POS   |   SLIDE 01/18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AIA Hong Kong Policy Owner Services (POS)</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Operations Strategy, 2026–2028 Functional Priorities &amp; Innovation Roadmap</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
</a:t>
            </a:r>
            <a:pPr indent="0" marL="0">
              <a:buNone/>
            </a:pPr>
            <a:r>
              <a:rPr lang="en-US" sz="750" b="1" dirty="0">
                <a:solidFill>
                  <a:srgbClr val="334155"/>
                </a:solidFill>
                <a:latin typeface="Arial" pitchFamily="34" charset="0"/>
                <a:ea typeface="Arial" pitchFamily="34" charset="-122"/>
                <a:cs typeface="Arial" pitchFamily="34" charset="-120"/>
              </a:rPr>
              <a:t>Strategic Pillars
</a:t>
            </a:r>
            <a:pPr indent="0" marL="0">
              <a:buNone/>
            </a:pPr>
            <a:r>
              <a:rPr lang="en-US" sz="650" dirty="0">
                <a:solidFill>
                  <a:srgbClr val="64748B"/>
                </a:solidFill>
                <a:latin typeface="Arial" pitchFamily="34" charset="0"/>
                <a:ea typeface="Arial" pitchFamily="34" charset="-122"/>
                <a:cs typeface="Arial" pitchFamily="34" charset="-120"/>
              </a:rPr>
              <a:t>Resilience · Wellbeing · Accountability</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6
</a:t>
            </a:r>
            <a:pPr indent="0" marL="0">
              <a:buNone/>
            </a:pPr>
            <a:r>
              <a:rPr lang="en-US" sz="750" b="1" dirty="0">
                <a:solidFill>
                  <a:srgbClr val="334155"/>
                </a:solidFill>
                <a:latin typeface="Arial" pitchFamily="34" charset="0"/>
                <a:ea typeface="Arial" pitchFamily="34" charset="-122"/>
                <a:cs typeface="Arial" pitchFamily="34" charset="-120"/>
              </a:rPr>
              <a:t>Core Functional Domains
</a:t>
            </a:r>
            <a:pPr indent="0" marL="0">
              <a:buNone/>
            </a:pPr>
            <a:r>
              <a:rPr lang="en-US" sz="650" dirty="0">
                <a:solidFill>
                  <a:srgbClr val="64748B"/>
                </a:solidFill>
                <a:latin typeface="Arial" pitchFamily="34" charset="0"/>
                <a:ea typeface="Arial" pitchFamily="34" charset="-122"/>
                <a:cs typeface="Arial" pitchFamily="34" charset="-120"/>
              </a:rPr>
              <a:t>BAU · Auto · Gov · HNW · BP · Cashier</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18+
</a:t>
            </a:r>
            <a:pPr indent="0" marL="0">
              <a:buNone/>
            </a:pPr>
            <a:r>
              <a:rPr lang="en-US" sz="750" b="1" dirty="0">
                <a:solidFill>
                  <a:srgbClr val="334155"/>
                </a:solidFill>
                <a:latin typeface="Arial" pitchFamily="34" charset="0"/>
                <a:ea typeface="Arial" pitchFamily="34" charset="-122"/>
                <a:cs typeface="Arial" pitchFamily="34" charset="-120"/>
              </a:rPr>
              <a:t>Key Digital Initiatives
</a:t>
            </a:r>
            <a:pPr indent="0" marL="0">
              <a:buNone/>
            </a:pPr>
            <a:r>
              <a:rPr lang="en-US" sz="650" dirty="0">
                <a:solidFill>
                  <a:srgbClr val="64748B"/>
                </a:solidFill>
                <a:latin typeface="Arial" pitchFamily="34" charset="0"/>
                <a:ea typeface="Arial" pitchFamily="34" charset="-122"/>
                <a:cs typeface="Arial" pitchFamily="34" charset="-120"/>
              </a:rPr>
              <a:t>2026–2028 Delivery Roadmap</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~30
</a:t>
            </a:r>
            <a:pPr indent="0" marL="0">
              <a:buNone/>
            </a:pPr>
            <a:r>
              <a:rPr lang="en-US" sz="750" b="1" dirty="0">
                <a:solidFill>
                  <a:srgbClr val="334155"/>
                </a:solidFill>
                <a:latin typeface="Arial" pitchFamily="34" charset="0"/>
                <a:ea typeface="Arial" pitchFamily="34" charset="-122"/>
                <a:cs typeface="Arial" pitchFamily="34" charset="-120"/>
              </a:rPr>
              <a:t>Microservices APIs
</a:t>
            </a:r>
            <a:pPr indent="0" marL="0">
              <a:buNone/>
            </a:pPr>
            <a:r>
              <a:rPr lang="en-US" sz="650" dirty="0">
                <a:solidFill>
                  <a:srgbClr val="64748B"/>
                </a:solidFill>
                <a:latin typeface="Arial" pitchFamily="34" charset="0"/>
                <a:ea typeface="Arial" pitchFamily="34" charset="-122"/>
                <a:cs typeface="Arial" pitchFamily="34" charset="-120"/>
              </a:rPr>
              <a:t>IBM POS Modernization Architecture</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STRATEGIC DIRECTION
</a:t>
            </a:r>
            <a:pPr indent="0" marL="0">
              <a:buNone/>
            </a:pPr>
            <a:r>
              <a:rPr lang="en-US" sz="1000" b="1" dirty="0">
                <a:solidFill>
                  <a:srgbClr val="0F172A"/>
                </a:solidFill>
                <a:latin typeface="Arial" pitchFamily="34" charset="0"/>
                <a:ea typeface="Arial" pitchFamily="34" charset="-122"/>
                <a:cs typeface="Arial" pitchFamily="34" charset="-120"/>
              </a:rPr>
              <a:t>Executive Operational Mandate
</a:t>
            </a:r>
            <a:pPr indent="0" marL="0">
              <a:buNone/>
            </a:pPr>
            <a:r>
              <a:rPr lang="en-US" sz="750" dirty="0">
                <a:solidFill>
                  <a:srgbClr val="475569"/>
                </a:solidFill>
                <a:latin typeface="Arial" pitchFamily="34" charset="0"/>
                <a:ea typeface="Arial" pitchFamily="34" charset="-122"/>
                <a:cs typeface="Arial" pitchFamily="34" charset="-120"/>
              </a:rPr>
              <a:t>Positioning AIA Hong Kong Policy Owner Services as a high-performing, digitally connected, and risk-resilient operations powerhouse.
</a:t>
            </a:r>
            <a:pPr indent="0" marL="0">
              <a:buNone/>
            </a:pPr>
            <a:r>
              <a:rPr lang="en-US" sz="700" dirty="0">
                <a:solidFill>
                  <a:srgbClr val="1E293B"/>
                </a:solidFill>
                <a:latin typeface="Arial" pitchFamily="34" charset="0"/>
                <a:ea typeface="Arial" pitchFamily="34" charset="-122"/>
                <a:cs typeface="Arial" pitchFamily="34" charset="-120"/>
              </a:rPr>
              <a:t>• Strengthening operational resilience through proactive employee decision-making and sustainable workload management.
</a:t>
            </a:r>
            <a:pPr indent="0" marL="0">
              <a:buNone/>
            </a:pPr>
            <a:r>
              <a:rPr lang="en-US" sz="700" dirty="0">
                <a:solidFill>
                  <a:srgbClr val="1E293B"/>
                </a:solidFill>
                <a:latin typeface="Arial" pitchFamily="34" charset="0"/>
                <a:ea typeface="Arial" pitchFamily="34" charset="-122"/>
                <a:cs typeface="Arial" pitchFamily="34" charset="-120"/>
              </a:rPr>
              <a:t>• Accelerating end-to-end customer and agent turnaround times across digital channels (AIA+, iChange, iVerify).
</a:t>
            </a:r>
            <a:pPr indent="0" marL="0">
              <a:buNone/>
            </a:pPr>
            <a:r>
              <a:rPr lang="en-US" sz="700" dirty="0">
                <a:solidFill>
                  <a:srgbClr val="1E293B"/>
                </a:solidFill>
                <a:latin typeface="Arial" pitchFamily="34" charset="0"/>
                <a:ea typeface="Arial" pitchFamily="34" charset="-122"/>
                <a:cs typeface="Arial" pitchFamily="34" charset="-120"/>
              </a:rPr>
              <a:t>• Institutionalizing enterprise governance across Anti-Money Laundering (AML), Common Reporting Standard (CRS 2.0), and IRD audits.
</a:t>
            </a:r>
            <a:pPr indent="0" marL="0">
              <a:buNone/>
            </a:pPr>
            <a:r>
              <a:rPr lang="en-US" sz="700" dirty="0">
                <a:solidFill>
                  <a:srgbClr val="1E293B"/>
                </a:solidFill>
                <a:latin typeface="Arial" pitchFamily="34" charset="0"/>
                <a:ea typeface="Arial" pitchFamily="34" charset="-122"/>
                <a:cs typeface="Arial" pitchFamily="34" charset="-120"/>
              </a:rPr>
              <a:t>• Deepening High-Net-Worth (HNW) multi-channel expansion across brokerage, bancassurance, and agency forces.
</a:t>
            </a:r>
            <a:pPr indent="0" marL="0">
              <a:buNone/>
            </a:pPr>
            <a:r>
              <a:rPr lang="en-US" sz="650" i="1" dirty="0">
                <a:solidFill>
                  <a:srgbClr val="64748B"/>
                </a:solidFill>
                <a:latin typeface="Arial" pitchFamily="34" charset="0"/>
                <a:ea typeface="Arial" pitchFamily="34" charset="-122"/>
                <a:cs typeface="Arial" pitchFamily="34" charset="-120"/>
              </a:rPr>
              <a:t>Focus: Resilience · Customer-First · Governance · Digital Scale</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ROADMAP CADENCE
</a:t>
            </a:r>
            <a:pPr indent="0" marL="0">
              <a:buNone/>
            </a:pPr>
            <a:r>
              <a:rPr lang="en-US" sz="1000" b="1" dirty="0">
                <a:solidFill>
                  <a:srgbClr val="0F172A"/>
                </a:solidFill>
                <a:latin typeface="Arial" pitchFamily="34" charset="0"/>
                <a:ea typeface="Arial" pitchFamily="34" charset="-122"/>
                <a:cs typeface="Arial" pitchFamily="34" charset="-120"/>
              </a:rPr>
              <a:t>Three-Year Transformation Horizon
</a:t>
            </a:r>
            <a:pPr indent="0" marL="0">
              <a:buNone/>
            </a:pPr>
            <a:r>
              <a:rPr lang="en-US" sz="750" dirty="0">
                <a:solidFill>
                  <a:srgbClr val="475569"/>
                </a:solidFill>
                <a:latin typeface="Arial" pitchFamily="34" charset="0"/>
                <a:ea typeface="Arial" pitchFamily="34" charset="-122"/>
                <a:cs typeface="Arial" pitchFamily="34" charset="-120"/>
              </a:rPr>
              <a:t>Multi-stage evolution from foundational BAU simplification in 2026 to automated microservices and GenAI servicing in 2027–2028.
</a:t>
            </a:r>
            <a:pPr indent="0" marL="0">
              <a:buNone/>
            </a:pPr>
            <a:r>
              <a:rPr lang="en-US" sz="700" dirty="0">
                <a:solidFill>
                  <a:srgbClr val="1E293B"/>
                </a:solidFill>
                <a:latin typeface="Arial" pitchFamily="34" charset="0"/>
                <a:ea typeface="Arial" pitchFamily="34" charset="-122"/>
                <a:cs typeface="Arial" pitchFamily="34" charset="-120"/>
              </a:rPr>
              <a:t>• 2026 Foundations: Witness signature streamlining, MonQ HNW SLA rollout, lockbox transition, and mandatory e-advice.
</a:t>
            </a:r>
            <a:pPr indent="0" marL="0">
              <a:buNone/>
            </a:pPr>
            <a:r>
              <a:rPr lang="en-US" sz="700" dirty="0">
                <a:solidFill>
                  <a:srgbClr val="1E293B"/>
                </a:solidFill>
                <a:latin typeface="Arial" pitchFamily="34" charset="0"/>
                <a:ea typeface="Arial" pitchFamily="34" charset="-122"/>
                <a:cs typeface="Arial" pitchFamily="34" charset="-120"/>
              </a:rPr>
              <a:t>• 2027 Accelerations: IBM microservices API deployment (~30 integrations), Nice Actimize GenAI AML, and 2-week FPS Autopay.
</a:t>
            </a:r>
            <a:pPr indent="0" marL="0">
              <a:buNone/>
            </a:pPr>
            <a:r>
              <a:rPr lang="en-US" sz="700" dirty="0">
                <a:solidFill>
                  <a:srgbClr val="1E293B"/>
                </a:solidFill>
                <a:latin typeface="Arial" pitchFamily="34" charset="0"/>
                <a:ea typeface="Arial" pitchFamily="34" charset="-122"/>
                <a:cs typeface="Arial" pitchFamily="34" charset="-120"/>
              </a:rPr>
              <a:t>• 2028 Horizons: CRS 2.0 full reporting mandate, extended GenAI transaction review modules, and stablecoin payment readiness.
</a:t>
            </a:r>
            <a:pPr indent="0" marL="0">
              <a:buNone/>
            </a:pPr>
            <a:r>
              <a:rPr lang="en-US" sz="650" i="1" dirty="0">
                <a:solidFill>
                  <a:srgbClr val="64748B"/>
                </a:solidFill>
                <a:latin typeface="Arial" pitchFamily="34" charset="0"/>
                <a:ea typeface="Arial" pitchFamily="34" charset="-122"/>
                <a:cs typeface="Arial" pitchFamily="34" charset="-120"/>
              </a:rPr>
              <a:t>Focus: 2026 Milestones · 2027 Targets · 2028 Horizon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Three-Year Strategic Horizon Timeline
</a:t>
            </a:r>
            <a:pPr indent="0" marL="0">
              <a:buNone/>
            </a:pPr>
            <a:r>
              <a:rPr lang="en-US" sz="650" dirty="0">
                <a:solidFill>
                  <a:srgbClr val="CBD5E1"/>
                </a:solidFill>
                <a:latin typeface="Arial" pitchFamily="34" charset="0"/>
                <a:ea typeface="Arial" pitchFamily="34" charset="-122"/>
                <a:cs typeface="Arial" pitchFamily="34" charset="-120"/>
              </a:rPr>
              <a:t>[2026 H1–H2] Operational Streamlining &amp; Governance: MonQ HNW launch, e-Advice rollout, IRD 700 audit response, and Citibank lockbox migration.   |   [2027 Q1] GenAI AML &amp; Core Modernization: Nice Actimize Name Screening with GenAI decision support; IBM 30+ microservices API build.   |   [2027 H2] Payment &amp; Customer Autopay Acceleration: DDM CitiDirect &amp; FPS Autopay (2-week turnaround), Project Bamboo AIAE portfolio transfer.   |   [2028 Jan 1] CRS 2.0 Statutory Reporting Regime: Full regulatory compliance with tightened OECD Common Reporting Standard reporting framework.
</a:t>
            </a:r>
            <a:pPr indent="0" marL="0">
              <a:buNone/>
            </a:pPr>
            <a:r>
              <a:rPr lang="en-US" sz="650" b="1" dirty="0">
                <a:solidFill>
                  <a:srgbClr val="F43F5E"/>
                </a:solidFill>
                <a:latin typeface="Arial" pitchFamily="34" charset="0"/>
                <a:ea typeface="Arial" pitchFamily="34" charset="-122"/>
                <a:cs typeface="Arial" pitchFamily="34" charset="-120"/>
              </a:rPr>
              <a:t>Key Operational Value: POS Operations is advancing on three unified fronts: People Resilience, Systems Automation, and Rigorous Governance. · Execution spans day-to-day servicing (BAU) through enterprise-level partnerships (IBM, CitiDirect, Nice Actimize).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01 · OVERALL STRATEGY   |   AIA HONG KONG POS   |   SLIDE 02/18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Operations Overall Strategy: Three Core Pillars</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Strengthening Change Resilience, Sustainable Workload, and Cross-Team Accountability</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 Pillars
</a:t>
            </a:r>
            <a:pPr indent="0" marL="0">
              <a:buNone/>
            </a:pPr>
            <a:r>
              <a:rPr lang="en-US" sz="750" b="1" dirty="0">
                <a:solidFill>
                  <a:srgbClr val="334155"/>
                </a:solidFill>
                <a:latin typeface="Arial" pitchFamily="34" charset="0"/>
                <a:ea typeface="Arial" pitchFamily="34" charset="-122"/>
                <a:cs typeface="Arial" pitchFamily="34" charset="-120"/>
              </a:rPr>
              <a:t>Focus Areas
</a:t>
            </a:r>
            <a:pPr indent="0" marL="0">
              <a:buNone/>
            </a:pPr>
            <a:r>
              <a:rPr lang="en-US" sz="650" dirty="0">
                <a:solidFill>
                  <a:srgbClr val="64748B"/>
                </a:solidFill>
                <a:latin typeface="Arial" pitchFamily="34" charset="0"/>
                <a:ea typeface="Arial" pitchFamily="34" charset="-122"/>
                <a:cs typeface="Arial" pitchFamily="34" charset="-120"/>
              </a:rPr>
              <a:t>Resilience · Wellbeing · Accountability</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Quarterly
</a:t>
            </a:r>
            <a:pPr indent="0" marL="0">
              <a:buNone/>
            </a:pPr>
            <a:r>
              <a:rPr lang="en-US" sz="750" b="1" dirty="0">
                <a:solidFill>
                  <a:srgbClr val="334155"/>
                </a:solidFill>
                <a:latin typeface="Arial" pitchFamily="34" charset="0"/>
                <a:ea typeface="Arial" pitchFamily="34" charset="-122"/>
                <a:cs typeface="Arial" pitchFamily="34" charset="-120"/>
              </a:rPr>
              <a:t>Workload Audits
</a:t>
            </a:r>
            <a:pPr indent="0" marL="0">
              <a:buNone/>
            </a:pPr>
            <a:r>
              <a:rPr lang="en-US" sz="650" dirty="0">
                <a:solidFill>
                  <a:srgbClr val="64748B"/>
                </a:solidFill>
                <a:latin typeface="Arial" pitchFamily="34" charset="0"/>
                <a:ea typeface="Arial" pitchFamily="34" charset="-122"/>
                <a:cs typeface="Arial" pitchFamily="34" charset="-120"/>
              </a:rPr>
              <a:t>Proactive capacity &amp; stress reviews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-35%
</a:t>
            </a:r>
            <a:pPr indent="0" marL="0">
              <a:buNone/>
            </a:pPr>
            <a:r>
              <a:rPr lang="en-US" sz="750" b="1" dirty="0">
                <a:solidFill>
                  <a:srgbClr val="334155"/>
                </a:solidFill>
                <a:latin typeface="Arial" pitchFamily="34" charset="0"/>
                <a:ea typeface="Arial" pitchFamily="34" charset="-122"/>
                <a:cs typeface="Arial" pitchFamily="34" charset="-120"/>
              </a:rPr>
              <a:t>Rework Target
</a:t>
            </a:r>
            <a:pPr indent="0" marL="0">
              <a:buNone/>
            </a:pPr>
            <a:r>
              <a:rPr lang="en-US" sz="650" dirty="0">
                <a:solidFill>
                  <a:srgbClr val="64748B"/>
                </a:solidFill>
                <a:latin typeface="Arial" pitchFamily="34" charset="0"/>
                <a:ea typeface="Arial" pitchFamily="34" charset="-122"/>
                <a:cs typeface="Arial" pitchFamily="34" charset="-120"/>
              </a:rPr>
              <a:t>Lowering avoidable pending iterations</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Real-Time
</a:t>
            </a:r>
            <a:pPr indent="0" marL="0">
              <a:buNone/>
            </a:pPr>
            <a:r>
              <a:rPr lang="en-US" sz="750" b="1" dirty="0">
                <a:solidFill>
                  <a:srgbClr val="334155"/>
                </a:solidFill>
                <a:latin typeface="Arial" pitchFamily="34" charset="0"/>
                <a:ea typeface="Arial" pitchFamily="34" charset="-122"/>
                <a:cs typeface="Arial" pitchFamily="34" charset="-120"/>
              </a:rPr>
              <a:t>Escalation Speed
</a:t>
            </a:r>
            <a:pPr indent="0" marL="0">
              <a:buNone/>
            </a:pPr>
            <a:r>
              <a:rPr lang="en-US" sz="650" dirty="0">
                <a:solidFill>
                  <a:srgbClr val="64748B"/>
                </a:solidFill>
                <a:latin typeface="Arial" pitchFamily="34" charset="0"/>
                <a:ea typeface="Arial" pitchFamily="34" charset="-122"/>
                <a:cs typeface="Arial" pitchFamily="34" charset="-120"/>
              </a:rPr>
              <a:t>Early impediment identification</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PEOPLE &amp; ADAPTABILITY
</a:t>
            </a:r>
            <a:pPr indent="0" marL="0">
              <a:buNone/>
            </a:pPr>
            <a:r>
              <a:rPr lang="en-US" sz="1000" b="1" dirty="0">
                <a:solidFill>
                  <a:srgbClr val="0F172A"/>
                </a:solidFill>
                <a:latin typeface="Arial" pitchFamily="34" charset="0"/>
                <a:ea typeface="Arial" pitchFamily="34" charset="-122"/>
                <a:cs typeface="Arial" pitchFamily="34" charset="-120"/>
              </a:rPr>
              <a:t>Strengthen Change Resilience
</a:t>
            </a:r>
            <a:pPr indent="0" marL="0">
              <a:buNone/>
            </a:pPr>
            <a:r>
              <a:rPr lang="en-US" sz="750" dirty="0">
                <a:solidFill>
                  <a:srgbClr val="475569"/>
                </a:solidFill>
                <a:latin typeface="Arial" pitchFamily="34" charset="0"/>
                <a:ea typeface="Arial" pitchFamily="34" charset="-122"/>
                <a:cs typeface="Arial" pitchFamily="34" charset="-120"/>
              </a:rPr>
              <a:t>Building on elevated employee engagement by empowering staff to understand macro priorities and navigate organizational transitions.
</a:t>
            </a:r>
            <a:pPr indent="0" marL="0">
              <a:buNone/>
            </a:pPr>
            <a:r>
              <a:rPr lang="en-US" sz="700" dirty="0">
                <a:solidFill>
                  <a:srgbClr val="1E293B"/>
                </a:solidFill>
                <a:latin typeface="Arial" pitchFamily="34" charset="0"/>
                <a:ea typeface="Arial" pitchFamily="34" charset="-122"/>
                <a:cs typeface="Arial" pitchFamily="34" charset="-120"/>
              </a:rPr>
              <a:t>• Empower frontline staff to contribute improvement ideas, make confident decentralized decisions, and resolve standard exceptions.
</a:t>
            </a:r>
            <a:pPr indent="0" marL="0">
              <a:buNone/>
            </a:pPr>
            <a:r>
              <a:rPr lang="en-US" sz="700" dirty="0">
                <a:solidFill>
                  <a:srgbClr val="1E293B"/>
                </a:solidFill>
                <a:latin typeface="Arial" pitchFamily="34" charset="0"/>
                <a:ea typeface="Arial" pitchFamily="34" charset="-122"/>
                <a:cs typeface="Arial" pitchFamily="34" charset="-120"/>
              </a:rPr>
              <a:t>• Demystify complex system transformations (IBM microservices, GenAI) through clear milestone communication and role-specific roadmaps.
</a:t>
            </a:r>
            <a:pPr indent="0" marL="0">
              <a:buNone/>
            </a:pPr>
            <a:r>
              <a:rPr lang="en-US" sz="700" dirty="0">
                <a:solidFill>
                  <a:srgbClr val="1E293B"/>
                </a:solidFill>
                <a:latin typeface="Arial" pitchFamily="34" charset="0"/>
                <a:ea typeface="Arial" pitchFamily="34" charset="-122"/>
                <a:cs typeface="Arial" pitchFamily="34" charset="-120"/>
              </a:rPr>
              <a:t>• Build psychological safety and change-agility so teams adapt smoothly to regulatory mandates (CRS 2.0, IRD guidelines).
</a:t>
            </a:r>
            <a:pPr indent="0" marL="0">
              <a:buNone/>
            </a:pPr>
            <a:r>
              <a:rPr lang="en-US" sz="650" i="1" dirty="0">
                <a:solidFill>
                  <a:srgbClr val="64748B"/>
                </a:solidFill>
                <a:latin typeface="Arial" pitchFamily="34" charset="0"/>
                <a:ea typeface="Arial" pitchFamily="34" charset="-122"/>
                <a:cs typeface="Arial" pitchFamily="34" charset="-120"/>
              </a:rPr>
              <a:t>Focus: Empowerment · Decentralized Decisions · Change Agility</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CAPACITY &amp; LONGEVITY
</a:t>
            </a:r>
            <a:pPr indent="0" marL="0">
              <a:buNone/>
            </a:pPr>
            <a:r>
              <a:rPr lang="en-US" sz="1000" b="1" dirty="0">
                <a:solidFill>
                  <a:srgbClr val="0F172A"/>
                </a:solidFill>
                <a:latin typeface="Arial" pitchFamily="34" charset="0"/>
                <a:ea typeface="Arial" pitchFamily="34" charset="-122"/>
                <a:cs typeface="Arial" pitchFamily="34" charset="-120"/>
              </a:rPr>
              <a:t>Wellbeing &amp; Sustainable Workload
</a:t>
            </a:r>
            <a:pPr indent="0" marL="0">
              <a:buNone/>
            </a:pPr>
            <a:r>
              <a:rPr lang="en-US" sz="750" dirty="0">
                <a:solidFill>
                  <a:srgbClr val="475569"/>
                </a:solidFill>
                <a:latin typeface="Arial" pitchFamily="34" charset="0"/>
                <a:ea typeface="Arial" pitchFamily="34" charset="-122"/>
                <a:cs typeface="Arial" pitchFamily="34" charset="-120"/>
              </a:rPr>
              <a:t>Balancing peak servicing demands with proactive workload governance, realistic sprint planning, and dedicated recovery time.
</a:t>
            </a:r>
            <a:pPr indent="0" marL="0">
              <a:buNone/>
            </a:pPr>
            <a:r>
              <a:rPr lang="en-US" sz="700" dirty="0">
                <a:solidFill>
                  <a:srgbClr val="1E293B"/>
                </a:solidFill>
                <a:latin typeface="Arial" pitchFamily="34" charset="0"/>
                <a:ea typeface="Arial" pitchFamily="34" charset="-122"/>
                <a:cs typeface="Arial" pitchFamily="34" charset="-120"/>
              </a:rPr>
              <a:t>• Regularly audit team capacity allocations, setting achievable servicing SLAs and realistic deployment timelines.
</a:t>
            </a:r>
            <a:pPr indent="0" marL="0">
              <a:buNone/>
            </a:pPr>
            <a:r>
              <a:rPr lang="en-US" sz="700" dirty="0">
                <a:solidFill>
                  <a:srgbClr val="1E293B"/>
                </a:solidFill>
                <a:latin typeface="Arial" pitchFamily="34" charset="0"/>
                <a:ea typeface="Arial" pitchFamily="34" charset="-122"/>
                <a:cs typeface="Arial" pitchFamily="34" charset="-120"/>
              </a:rPr>
              <a:t>• Encourage early escalation of processing bottlenecks and backlog surges to prevent frontline burnout and cognitive fatigue.
</a:t>
            </a:r>
            <a:pPr indent="0" marL="0">
              <a:buNone/>
            </a:pPr>
            <a:r>
              <a:rPr lang="en-US" sz="700" dirty="0">
                <a:solidFill>
                  <a:srgbClr val="1E293B"/>
                </a:solidFill>
                <a:latin typeface="Arial" pitchFamily="34" charset="0"/>
                <a:ea typeface="Arial" pitchFamily="34" charset="-122"/>
                <a:cs typeface="Arial" pitchFamily="34" charset="-120"/>
              </a:rPr>
              <a:t>• Provide structured employee wellbeing, mental health support, and adequate post-cycle recovery following major regulatory filings.
</a:t>
            </a:r>
            <a:pPr indent="0" marL="0">
              <a:buNone/>
            </a:pPr>
            <a:r>
              <a:rPr lang="en-US" sz="650" i="1" dirty="0">
                <a:solidFill>
                  <a:srgbClr val="64748B"/>
                </a:solidFill>
                <a:latin typeface="Arial" pitchFamily="34" charset="0"/>
                <a:ea typeface="Arial" pitchFamily="34" charset="-122"/>
                <a:cs typeface="Arial" pitchFamily="34" charset="-120"/>
              </a:rPr>
              <a:t>Focus: Capacity Governance · Early Escalation · Burnout Prevention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Operational Culture Shift: Legacy vs. Future Target Operating State
</a:t>
            </a:r>
            <a:pPr indent="0" marL="0">
              <a:buNone/>
            </a:pPr>
            <a:r>
              <a:rPr lang="en-US" sz="650" dirty="0">
                <a:solidFill>
                  <a:srgbClr val="CBD5E1"/>
                </a:solidFill>
                <a:latin typeface="Arial" pitchFamily="34" charset="0"/>
                <a:ea typeface="Arial" pitchFamily="34" charset="-122"/>
                <a:cs typeface="Arial" pitchFamily="34" charset="-120"/>
              </a:rPr>
              <a:t>Decision Authority: Centralized senior escalations for standard exceptions ➔ Empowered frontline handlers guided by automated rule engines (Impact: Turnaround time reduced by 40%)   |   Workload Management: Reactive overtime during month-end / audit spikes ➔ Continuous capacity monitoring &amp; dynamic cross-pod load balancing (Impact: Lower staff turnover &amp; sustained morale)   |   Inter-team Handoffs: Fragmented blame between Agency submissions and POS pending ➔ Shared accountability, clear SLA contracts, and Bi-monthly POS tips (Impact: Avoidable pending cases halved)
</a:t>
            </a:r>
            <a:pPr indent="0" marL="0">
              <a:buNone/>
            </a:pPr>
            <a:r>
              <a:rPr lang="en-US" sz="650" b="1" dirty="0">
                <a:solidFill>
                  <a:srgbClr val="F43F5E"/>
                </a:solidFill>
                <a:latin typeface="Arial" pitchFamily="34" charset="0"/>
                <a:ea typeface="Arial" pitchFamily="34" charset="-122"/>
                <a:cs typeface="Arial" pitchFamily="34" charset="-120"/>
              </a:rPr>
              <a:t>Key Operational Value: Change resilience is our bedrock: we equip teams to actively shape improvements rather than reactively absorb changes. · Sustainable workload management directly protects accuracy and reduces risk in high-stakes regulatory processing.</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BAU PRIORITIES   |   AIA HONG KONG POS   |   SLIDE 03/18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BAU Modernization: Digital OTP Verification &amp; Pending Revamp</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Eliminating Signature Pending Discrepancies and Clarifying Agent Communication Channels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510 Chars
</a:t>
            </a:r>
            <a:pPr indent="0" marL="0">
              <a:buNone/>
            </a:pPr>
            <a:r>
              <a:rPr lang="en-US" sz="750" b="1" dirty="0">
                <a:solidFill>
                  <a:srgbClr val="334155"/>
                </a:solidFill>
                <a:latin typeface="Arial" pitchFamily="34" charset="0"/>
                <a:ea typeface="Arial" pitchFamily="34" charset="-122"/>
                <a:cs typeface="Arial" pitchFamily="34" charset="-120"/>
              </a:rPr>
              <a:t>Pending Msg Limit
</a:t>
            </a:r>
            <a:pPr indent="0" marL="0">
              <a:buNone/>
            </a:pPr>
            <a:r>
              <a:rPr lang="en-US" sz="650" dirty="0">
                <a:solidFill>
                  <a:srgbClr val="64748B"/>
                </a:solidFill>
                <a:latin typeface="Arial" pitchFamily="34" charset="0"/>
                <a:ea typeface="Arial" pitchFamily="34" charset="-122"/>
                <a:cs typeface="Arial" pitchFamily="34" charset="-120"/>
              </a:rPr>
              <a:t>Up from 70 EN / 31 ZH (+628%)</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Dual EN/ZH
</a:t>
            </a:r>
            <a:pPr indent="0" marL="0">
              <a:buNone/>
            </a:pPr>
            <a:r>
              <a:rPr lang="en-US" sz="750" b="1" dirty="0">
                <a:solidFill>
                  <a:srgbClr val="334155"/>
                </a:solidFill>
                <a:latin typeface="Arial" pitchFamily="34" charset="0"/>
                <a:ea typeface="Arial" pitchFamily="34" charset="-122"/>
                <a:cs typeface="Arial" pitchFamily="34" charset="-120"/>
              </a:rPr>
              <a:t>Language Format
</a:t>
            </a:r>
            <a:pPr indent="0" marL="0">
              <a:buNone/>
            </a:pPr>
            <a:r>
              <a:rPr lang="en-US" sz="650" dirty="0">
                <a:solidFill>
                  <a:srgbClr val="64748B"/>
                </a:solidFill>
                <a:latin typeface="Arial" pitchFamily="34" charset="0"/>
                <a:ea typeface="Arial" pitchFamily="34" charset="-122"/>
                <a:cs typeface="Arial" pitchFamily="34" charset="-120"/>
              </a:rPr>
              <a:t>Separate 510-character buffers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-60% Est.
</a:t>
            </a:r>
            <a:pPr indent="0" marL="0">
              <a:buNone/>
            </a:pPr>
            <a:r>
              <a:rPr lang="en-US" sz="750" b="1" dirty="0">
                <a:solidFill>
                  <a:srgbClr val="334155"/>
                </a:solidFill>
                <a:latin typeface="Arial" pitchFamily="34" charset="0"/>
                <a:ea typeface="Arial" pitchFamily="34" charset="-122"/>
                <a:cs typeface="Arial" pitchFamily="34" charset="-120"/>
              </a:rPr>
              <a:t>Signature Pendings
</a:t>
            </a:r>
            <a:pPr indent="0" marL="0">
              <a:buNone/>
            </a:pPr>
            <a:r>
              <a:rPr lang="en-US" sz="650" dirty="0">
                <a:solidFill>
                  <a:srgbClr val="64748B"/>
                </a:solidFill>
                <a:latin typeface="Arial" pitchFamily="34" charset="0"/>
                <a:ea typeface="Arial" pitchFamily="34" charset="-122"/>
                <a:cs typeface="Arial" pitchFamily="34" charset="-120"/>
              </a:rPr>
              <a:t>OTP eliminates discrepancy checks</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2027
</a:t>
            </a:r>
            <a:pPr indent="0" marL="0">
              <a:buNone/>
            </a:pPr>
            <a:r>
              <a:rPr lang="en-US" sz="750" b="1" dirty="0">
                <a:solidFill>
                  <a:srgbClr val="334155"/>
                </a:solidFill>
                <a:latin typeface="Arial" pitchFamily="34" charset="0"/>
                <a:ea typeface="Arial" pitchFamily="34" charset="-122"/>
                <a:cs typeface="Arial" pitchFamily="34" charset="-120"/>
              </a:rPr>
              <a:t>Adoption Target
</a:t>
            </a:r>
            <a:pPr indent="0" marL="0">
              <a:buNone/>
            </a:pPr>
            <a:r>
              <a:rPr lang="en-US" sz="650" dirty="0">
                <a:solidFill>
                  <a:srgbClr val="64748B"/>
                </a:solidFill>
                <a:latin typeface="Arial" pitchFamily="34" charset="0"/>
                <a:ea typeface="Arial" pitchFamily="34" charset="-122"/>
                <a:cs typeface="Arial" pitchFamily="34" charset="-120"/>
              </a:rPr>
              <a:t>Legal &amp; Compliance review in-flight</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DIGITAL SECURITY
</a:t>
            </a:r>
            <a:pPr indent="0" marL="0">
              <a:buNone/>
            </a:pPr>
            <a:r>
              <a:rPr lang="en-US" sz="1000" b="1" dirty="0">
                <a:solidFill>
                  <a:srgbClr val="0F172A"/>
                </a:solidFill>
                <a:latin typeface="Arial" pitchFamily="34" charset="0"/>
                <a:ea typeface="Arial" pitchFamily="34" charset="-122"/>
                <a:cs typeface="Arial" pitchFamily="34" charset="-120"/>
              </a:rPr>
              <a:t>iChange OTP Authentication Enablement
</a:t>
            </a:r>
            <a:pPr indent="0" marL="0">
              <a:buNone/>
            </a:pPr>
            <a:r>
              <a:rPr lang="en-US" sz="750" dirty="0">
                <a:solidFill>
                  <a:srgbClr val="475569"/>
                </a:solidFill>
                <a:latin typeface="Arial" pitchFamily="34" charset="0"/>
                <a:ea typeface="Arial" pitchFamily="34" charset="-122"/>
                <a:cs typeface="Arial" pitchFamily="34" charset="-120"/>
              </a:rPr>
              <a:t>Transitioning customer request authentication from manual signature verification to secure One-Time Password (OTP) verification.
</a:t>
            </a:r>
            <a:pPr indent="0" marL="0">
              <a:buNone/>
            </a:pPr>
            <a:r>
              <a:rPr lang="en-US" sz="700" dirty="0">
                <a:solidFill>
                  <a:srgbClr val="1E293B"/>
                </a:solidFill>
                <a:latin typeface="Arial" pitchFamily="34" charset="0"/>
                <a:ea typeface="Arial" pitchFamily="34" charset="-122"/>
                <a:cs typeface="Arial" pitchFamily="34" charset="-120"/>
              </a:rPr>
              <a:t>• Targeting high-volume policy servicing request types to eliminate signature discrepancy pending cases.
</a:t>
            </a:r>
            <a:pPr indent="0" marL="0">
              <a:buNone/>
            </a:pPr>
            <a:r>
              <a:rPr lang="en-US" sz="700" dirty="0">
                <a:solidFill>
                  <a:srgbClr val="1E293B"/>
                </a:solidFill>
                <a:latin typeface="Arial" pitchFamily="34" charset="0"/>
                <a:ea typeface="Arial" pitchFamily="34" charset="-122"/>
                <a:cs typeface="Arial" pitchFamily="34" charset="-120"/>
              </a:rPr>
              <a:t>• Dramatically reduces customer friction, avoids branch/agent re-signing visits, and accelerates straight-through processing (STP).
</a:t>
            </a:r>
            <a:pPr indent="0" marL="0">
              <a:buNone/>
            </a:pPr>
            <a:r>
              <a:rPr lang="en-US" sz="700" dirty="0">
                <a:solidFill>
                  <a:srgbClr val="1E293B"/>
                </a:solidFill>
                <a:latin typeface="Arial" pitchFamily="34" charset="0"/>
                <a:ea typeface="Arial" pitchFamily="34" charset="-122"/>
                <a:cs typeface="Arial" pitchFamily="34" charset="-120"/>
              </a:rPr>
              <a:t>• Currently undergoing rigorous review with Legal &amp; Compliance to expand approved servicing request types throughout 2027.
</a:t>
            </a:r>
            <a:pPr indent="0" marL="0">
              <a:buNone/>
            </a:pPr>
            <a:r>
              <a:rPr lang="en-US" sz="650" i="1" dirty="0">
                <a:solidFill>
                  <a:srgbClr val="64748B"/>
                </a:solidFill>
                <a:latin typeface="Arial" pitchFamily="34" charset="0"/>
                <a:ea typeface="Arial" pitchFamily="34" charset="-122"/>
                <a:cs typeface="Arial" pitchFamily="34" charset="-120"/>
              </a:rPr>
              <a:t>Focus: iChange OTP · Signature Elimination · 2027 Compliance Expansion</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CLEAR COMMUNICATION
</a:t>
            </a:r>
            <a:pPr indent="0" marL="0">
              <a:buNone/>
            </a:pPr>
            <a:r>
              <a:rPr lang="en-US" sz="1000" b="1" dirty="0">
                <a:solidFill>
                  <a:srgbClr val="0F172A"/>
                </a:solidFill>
                <a:latin typeface="Arial" pitchFamily="34" charset="0"/>
                <a:ea typeface="Arial" pitchFamily="34" charset="-122"/>
                <a:cs typeface="Arial" pitchFamily="34" charset="-120"/>
              </a:rPr>
              <a:t>Comprehensive Pending Message Revamp
</a:t>
            </a:r>
            <a:pPr indent="0" marL="0">
              <a:buNone/>
            </a:pPr>
            <a:r>
              <a:rPr lang="en-US" sz="750" dirty="0">
                <a:solidFill>
                  <a:srgbClr val="475569"/>
                </a:solidFill>
                <a:latin typeface="Arial" pitchFamily="34" charset="0"/>
                <a:ea typeface="Arial" pitchFamily="34" charset="-122"/>
                <a:cs typeface="Arial" pitchFamily="34" charset="-120"/>
              </a:rPr>
              <a:t>Expanding message limits from legacy 70 (EN) / 31 (ZH) characters to 510 separate characters for English and Chinese.
</a:t>
            </a:r>
            <a:pPr indent="0" marL="0">
              <a:buNone/>
            </a:pPr>
            <a:r>
              <a:rPr lang="en-US" sz="700" dirty="0">
                <a:solidFill>
                  <a:srgbClr val="1E293B"/>
                </a:solidFill>
                <a:latin typeface="Arial" pitchFamily="34" charset="0"/>
                <a:ea typeface="Arial" pitchFamily="34" charset="-122"/>
                <a:cs typeface="Arial" pitchFamily="34" charset="-120"/>
              </a:rPr>
              <a:t>• Eliminates cryptic legacy abbreviations, truncated explanations, split pending notices, and obsolete alphanumeric codes.
</a:t>
            </a:r>
            <a:pPr indent="0" marL="0">
              <a:buNone/>
            </a:pPr>
            <a:r>
              <a:rPr lang="en-US" sz="700" dirty="0">
                <a:solidFill>
                  <a:srgbClr val="1E293B"/>
                </a:solidFill>
                <a:latin typeface="Arial" pitchFamily="34" charset="0"/>
                <a:ea typeface="Arial" pitchFamily="34" charset="-122"/>
                <a:cs typeface="Arial" pitchFamily="34" charset="-120"/>
              </a:rPr>
              <a:t>• Embeds clear, dual-language comprehensive requirement descriptions that agents and policyholders can understand on first read.
</a:t>
            </a:r>
            <a:pPr indent="0" marL="0">
              <a:buNone/>
            </a:pPr>
            <a:r>
              <a:rPr lang="en-US" sz="700" dirty="0">
                <a:solidFill>
                  <a:srgbClr val="1E293B"/>
                </a:solidFill>
                <a:latin typeface="Arial" pitchFamily="34" charset="0"/>
                <a:ea typeface="Arial" pitchFamily="34" charset="-122"/>
                <a:cs typeface="Arial" pitchFamily="34" charset="-120"/>
              </a:rPr>
              <a:t>• Directly slashes incoming agent enquiry calls and back-and-forth clarifications, driving immediate submission remediation.
</a:t>
            </a:r>
            <a:pPr indent="0" marL="0">
              <a:buNone/>
            </a:pPr>
            <a:r>
              <a:rPr lang="en-US" sz="650" i="1" dirty="0">
                <a:solidFill>
                  <a:srgbClr val="64748B"/>
                </a:solidFill>
                <a:latin typeface="Arial" pitchFamily="34" charset="0"/>
                <a:ea typeface="Arial" pitchFamily="34" charset="-122"/>
                <a:cs typeface="Arial" pitchFamily="34" charset="-120"/>
              </a:rPr>
              <a:t>Focus: 510 Characters · Dual Language · Zero Cryptic Codes</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Streamlined Customer Request Journey with OTP vs. Legacy Signature Verification
</a:t>
            </a:r>
            <a:pPr indent="0" marL="0">
              <a:buNone/>
            </a:pPr>
            <a:r>
              <a:rPr lang="en-US" sz="650" dirty="0">
                <a:solidFill>
                  <a:srgbClr val="CBD5E1"/>
                </a:solidFill>
                <a:latin typeface="Arial" pitchFamily="34" charset="0"/>
                <a:ea typeface="Arial" pitchFamily="34" charset="-122"/>
                <a:cs typeface="Arial" pitchFamily="34" charset="-120"/>
              </a:rPr>
              <a:t>[01] Request Submission (Customer / Agent): Customer initiates policy change in iChange or AIA+ portal   |   [02] Dual-Factor OTP Auth (AIA Auth Engine): SMS / Email OTP sent to verified mobile; instant biometric/OTP verification   |   [03] Validation &amp; Servicing (Core POS Engine): Automated rules engine validates request without signature comparison queue   |   [04] Revamped Pending Notice (Messaging Subsystem): If exception occurs, 510-char dual-language explicit guidance is dispatched
</a:t>
            </a:r>
            <a:pPr indent="0" marL="0">
              <a:buNone/>
            </a:pPr>
            <a:r>
              <a:rPr lang="en-US" sz="650" b="1" dirty="0">
                <a:solidFill>
                  <a:srgbClr val="F43F5E"/>
                </a:solidFill>
                <a:latin typeface="Arial" pitchFamily="34" charset="0"/>
                <a:ea typeface="Arial" pitchFamily="34" charset="-122"/>
                <a:cs typeface="Arial" pitchFamily="34" charset="-120"/>
              </a:rPr>
              <a:t>Key Operational Value: Signature discrepancies represent one of our largest historical pending drivers; OTP is the structural cure. · Expanding message character limits from 70 to 510 characters eradicates ambiguous instructions and agent confusion.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AUTOMATION   |   AIA HONG KONG POS   |   SLIDE 04/18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Automation Priority: IBM POS Modernization &amp; Systems Integration</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Deploying ~30 Core APIs and a Microservices Target Operating Model over a 26-Week Cadence</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~30 APIs
</a:t>
            </a:r>
            <a:pPr indent="0" marL="0">
              <a:buNone/>
            </a:pPr>
            <a:r>
              <a:rPr lang="en-US" sz="750" b="1" dirty="0">
                <a:solidFill>
                  <a:srgbClr val="334155"/>
                </a:solidFill>
                <a:latin typeface="Arial" pitchFamily="34" charset="0"/>
                <a:ea typeface="Arial" pitchFamily="34" charset="-122"/>
                <a:cs typeface="Arial" pitchFamily="34" charset="-120"/>
              </a:rPr>
              <a:t>API Integrations
</a:t>
            </a:r>
            <a:pPr indent="0" marL="0">
              <a:buNone/>
            </a:pPr>
            <a:r>
              <a:rPr lang="en-US" sz="650" dirty="0">
                <a:solidFill>
                  <a:srgbClr val="64748B"/>
                </a:solidFill>
                <a:latin typeface="Arial" pitchFamily="34" charset="0"/>
                <a:ea typeface="Arial" pitchFamily="34" charset="-122"/>
                <a:cs typeface="Arial" pitchFamily="34" charset="-120"/>
              </a:rPr>
              <a:t>Policy Admin · CRM · Data Lake</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26 Weeks
</a:t>
            </a:r>
            <a:pPr indent="0" marL="0">
              <a:buNone/>
            </a:pPr>
            <a:r>
              <a:rPr lang="en-US" sz="750" b="1" dirty="0">
                <a:solidFill>
                  <a:srgbClr val="334155"/>
                </a:solidFill>
                <a:latin typeface="Arial" pitchFamily="34" charset="0"/>
                <a:ea typeface="Arial" pitchFamily="34" charset="-122"/>
                <a:cs typeface="Arial" pitchFamily="34" charset="-120"/>
              </a:rPr>
              <a:t>Delivery Cadence
</a:t>
            </a:r>
            <a:pPr indent="0" marL="0">
              <a:buNone/>
            </a:pPr>
            <a:r>
              <a:rPr lang="en-US" sz="650" dirty="0">
                <a:solidFill>
                  <a:srgbClr val="64748B"/>
                </a:solidFill>
                <a:latin typeface="Arial" pitchFamily="34" charset="0"/>
                <a:ea typeface="Arial" pitchFamily="34" charset="-122"/>
                <a:cs typeface="Arial" pitchFamily="34" charset="-120"/>
              </a:rPr>
              <a:t>Structured sprint delivery model</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60 Days
</a:t>
            </a:r>
            <a:pPr indent="0" marL="0">
              <a:buNone/>
            </a:pPr>
            <a:r>
              <a:rPr lang="en-US" sz="750" b="1" dirty="0">
                <a:solidFill>
                  <a:srgbClr val="334155"/>
                </a:solidFill>
                <a:latin typeface="Arial" pitchFamily="34" charset="0"/>
                <a:ea typeface="Arial" pitchFamily="34" charset="-122"/>
                <a:cs typeface="Arial" pitchFamily="34" charset="-120"/>
              </a:rPr>
              <a:t>Hypercare Support
</a:t>
            </a:r>
            <a:pPr indent="0" marL="0">
              <a:buNone/>
            </a:pPr>
            <a:r>
              <a:rPr lang="en-US" sz="650" dirty="0">
                <a:solidFill>
                  <a:srgbClr val="64748B"/>
                </a:solidFill>
                <a:latin typeface="Arial" pitchFamily="34" charset="0"/>
                <a:ea typeface="Arial" pitchFamily="34" charset="-122"/>
                <a:cs typeface="Arial" pitchFamily="34" charset="-120"/>
              </a:rPr>
              <a:t>Post-implementation warranty</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SIT/UAT/NFT
</a:t>
            </a:r>
            <a:pPr indent="0" marL="0">
              <a:buNone/>
            </a:pPr>
            <a:r>
              <a:rPr lang="en-US" sz="750" b="1" dirty="0">
                <a:solidFill>
                  <a:srgbClr val="334155"/>
                </a:solidFill>
                <a:latin typeface="Arial" pitchFamily="34" charset="0"/>
                <a:ea typeface="Arial" pitchFamily="34" charset="-122"/>
                <a:cs typeface="Arial" pitchFamily="34" charset="-120"/>
              </a:rPr>
              <a:t>Testing Rigor
</a:t>
            </a:r>
            <a:pPr indent="0" marL="0">
              <a:buNone/>
            </a:pPr>
            <a:r>
              <a:rPr lang="en-US" sz="650" dirty="0">
                <a:solidFill>
                  <a:srgbClr val="64748B"/>
                </a:solidFill>
                <a:latin typeface="Arial" pitchFamily="34" charset="0"/>
                <a:ea typeface="Arial" pitchFamily="34" charset="-122"/>
                <a:cs typeface="Arial" pitchFamily="34" charset="-120"/>
              </a:rPr>
              <a:t>Full formal test artifact governance</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STRATEGIC PARTNERSHIP
</a:t>
            </a:r>
            <a:pPr indent="0" marL="0">
              <a:buNone/>
            </a:pPr>
            <a:r>
              <a:rPr lang="en-US" sz="1000" b="1" dirty="0">
                <a:solidFill>
                  <a:srgbClr val="0F172A"/>
                </a:solidFill>
                <a:latin typeface="Arial" pitchFamily="34" charset="0"/>
                <a:ea typeface="Arial" pitchFamily="34" charset="-122"/>
                <a:cs typeface="Arial" pitchFamily="34" charset="-120"/>
              </a:rPr>
              <a:t>IBM as Systems Integrator (Beyond Advisory)
</a:t>
            </a:r>
            <a:pPr indent="0" marL="0">
              <a:buNone/>
            </a:pPr>
            <a:r>
              <a:rPr lang="en-US" sz="750" dirty="0">
                <a:solidFill>
                  <a:srgbClr val="475569"/>
                </a:solidFill>
                <a:latin typeface="Arial" pitchFamily="34" charset="0"/>
                <a:ea typeface="Arial" pitchFamily="34" charset="-122"/>
                <a:cs typeface="Arial" pitchFamily="34" charset="-120"/>
              </a:rPr>
              <a:t>IBM engaged not merely for architectural advice, but as the accountable Systems Integrator executing the full software build.
</a:t>
            </a:r>
            <a:pPr indent="0" marL="0">
              <a:buNone/>
            </a:pPr>
            <a:r>
              <a:rPr lang="en-US" sz="700" dirty="0">
                <a:solidFill>
                  <a:srgbClr val="1E293B"/>
                </a:solidFill>
                <a:latin typeface="Arial" pitchFamily="34" charset="0"/>
                <a:ea typeface="Arial" pitchFamily="34" charset="-122"/>
                <a:cs typeface="Arial" pitchFamily="34" charset="-120"/>
              </a:rPr>
              <a:t>• End-to-end architectural engineering, custom microservices development, and core system integration.
</a:t>
            </a:r>
            <a:pPr indent="0" marL="0">
              <a:buNone/>
            </a:pPr>
            <a:r>
              <a:rPr lang="en-US" sz="700" dirty="0">
                <a:solidFill>
                  <a:srgbClr val="1E293B"/>
                </a:solidFill>
                <a:latin typeface="Arial" pitchFamily="34" charset="0"/>
                <a:ea typeface="Arial" pitchFamily="34" charset="-122"/>
                <a:cs typeface="Arial" pitchFamily="34" charset="-120"/>
              </a:rPr>
              <a:t>• Seamless linkage across core policy administration systems (PAS), enterprise CRM platforms, and corporate data lakes.
</a:t>
            </a:r>
            <a:pPr indent="0" marL="0">
              <a:buNone/>
            </a:pPr>
            <a:r>
              <a:rPr lang="en-US" sz="700" dirty="0">
                <a:solidFill>
                  <a:srgbClr val="1E293B"/>
                </a:solidFill>
                <a:latin typeface="Arial" pitchFamily="34" charset="0"/>
                <a:ea typeface="Arial" pitchFamily="34" charset="-122"/>
                <a:cs typeface="Arial" pitchFamily="34" charset="-120"/>
              </a:rPr>
              <a:t>• Modern target operating model (TOM) providing high-throughput, decoupled servicing capabilities.
</a:t>
            </a:r>
            <a:pPr indent="0" marL="0">
              <a:buNone/>
            </a:pPr>
            <a:r>
              <a:rPr lang="en-US" sz="650" i="1" dirty="0">
                <a:solidFill>
                  <a:srgbClr val="64748B"/>
                </a:solidFill>
                <a:latin typeface="Arial" pitchFamily="34" charset="0"/>
                <a:ea typeface="Arial" pitchFamily="34" charset="-122"/>
                <a:cs typeface="Arial" pitchFamily="34" charset="-120"/>
              </a:rPr>
              <a:t>Focus: Systems Integrator · End-to-End Build · Decoupled Core</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ENGINEERING DISCIPLINE
</a:t>
            </a:r>
            <a:pPr indent="0" marL="0">
              <a:buNone/>
            </a:pPr>
            <a:r>
              <a:rPr lang="en-US" sz="1000" b="1" dirty="0">
                <a:solidFill>
                  <a:srgbClr val="0F172A"/>
                </a:solidFill>
                <a:latin typeface="Arial" pitchFamily="34" charset="0"/>
                <a:ea typeface="Arial" pitchFamily="34" charset="-122"/>
                <a:cs typeface="Arial" pitchFamily="34" charset="-120"/>
              </a:rPr>
              <a:t>Rigorous 26-Week Delivery Cadence
</a:t>
            </a:r>
            <a:pPr indent="0" marL="0">
              <a:buNone/>
            </a:pPr>
            <a:r>
              <a:rPr lang="en-US" sz="750" dirty="0">
                <a:solidFill>
                  <a:srgbClr val="475569"/>
                </a:solidFill>
                <a:latin typeface="Arial" pitchFamily="34" charset="0"/>
                <a:ea typeface="Arial" pitchFamily="34" charset="-122"/>
                <a:cs typeface="Arial" pitchFamily="34" charset="-120"/>
              </a:rPr>
              <a:t>Structured 26-week software development lifecycle backed by comprehensive verification artifacts and post-go-live stabilization.
</a:t>
            </a:r>
            <a:pPr indent="0" marL="0">
              <a:buNone/>
            </a:pPr>
            <a:r>
              <a:rPr lang="en-US" sz="700" dirty="0">
                <a:solidFill>
                  <a:srgbClr val="1E293B"/>
                </a:solidFill>
                <a:latin typeface="Arial" pitchFamily="34" charset="0"/>
                <a:ea typeface="Arial" pitchFamily="34" charset="-122"/>
                <a:cs typeface="Arial" pitchFamily="34" charset="-120"/>
              </a:rPr>
              <a:t>• Full SIT (System Integration Testing), UAT (User Acceptance Testing), and NFT (Non-Functional Performance &amp; Security Testing).
</a:t>
            </a:r>
            <a:pPr indent="0" marL="0">
              <a:buNone/>
            </a:pPr>
            <a:r>
              <a:rPr lang="en-US" sz="700" dirty="0">
                <a:solidFill>
                  <a:srgbClr val="1E293B"/>
                </a:solidFill>
                <a:latin typeface="Arial" pitchFamily="34" charset="0"/>
                <a:ea typeface="Arial" pitchFamily="34" charset="-122"/>
                <a:cs typeface="Arial" pitchFamily="34" charset="-120"/>
              </a:rPr>
              <a:t>• Production readiness gates and automated deployment pipelines ensuring zero unscheduled downtime.
</a:t>
            </a:r>
            <a:pPr indent="0" marL="0">
              <a:buNone/>
            </a:pPr>
            <a:r>
              <a:rPr lang="en-US" sz="700" dirty="0">
                <a:solidFill>
                  <a:srgbClr val="1E293B"/>
                </a:solidFill>
                <a:latin typeface="Arial" pitchFamily="34" charset="0"/>
                <a:ea typeface="Arial" pitchFamily="34" charset="-122"/>
                <a:cs typeface="Arial" pitchFamily="34" charset="-120"/>
              </a:rPr>
              <a:t>• 60-day dedicated post-implementation hypercare support to monitor latency, resolve defects, and tune system throughput.
</a:t>
            </a:r>
            <a:pPr indent="0" marL="0">
              <a:buNone/>
            </a:pPr>
            <a:r>
              <a:rPr lang="en-US" sz="650" i="1" dirty="0">
                <a:solidFill>
                  <a:srgbClr val="64748B"/>
                </a:solidFill>
                <a:latin typeface="Arial" pitchFamily="34" charset="0"/>
                <a:ea typeface="Arial" pitchFamily="34" charset="-122"/>
                <a:cs typeface="Arial" pitchFamily="34" charset="-120"/>
              </a:rPr>
              <a:t>Focus: 26-Week SDLC · 60-Day Hypercare · NFT Performance</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Target Microservices Integration Architecture (IBM POS Modernization)
</a:t>
            </a:r>
            <a:pPr indent="0" marL="0">
              <a:buNone/>
            </a:pPr>
            <a:r>
              <a:rPr lang="en-US" sz="650" dirty="0">
                <a:solidFill>
                  <a:srgbClr val="CBD5E1"/>
                </a:solidFill>
                <a:latin typeface="Arial" pitchFamily="34" charset="0"/>
                <a:ea typeface="Arial" pitchFamily="34" charset="-122"/>
                <a:cs typeface="Arial" pitchFamily="34" charset="-120"/>
              </a:rPr>
              <a:t>[Frontends] Channel Layer (AIA+ / iChange / Agent POSA): Unified customer &amp; agent digital endpoints sending standardized JSON requests   |   [Gateway] API Management Layer (IBM Integration Bus): Rate limiting, OAuth security validation, and intelligent request routing (~30 APIs)   |   [Services] Microservices Core (Containerized Services): Independent policy servicing domains (Ownership, Beneficiary, Contact, Premium)   |   [Backends] Core Enterprise Legacy (Mainframe PAS &amp; CRM): Decoupled legacy policy admin engines, data lakes, and financial ledgers
</a:t>
            </a:r>
            <a:pPr indent="0" marL="0">
              <a:buNone/>
            </a:pPr>
            <a:r>
              <a:rPr lang="en-US" sz="650" b="1" dirty="0">
                <a:solidFill>
                  <a:srgbClr val="F43F5E"/>
                </a:solidFill>
                <a:latin typeface="Arial" pitchFamily="34" charset="0"/>
                <a:ea typeface="Arial" pitchFamily="34" charset="-122"/>
                <a:cs typeface="Arial" pitchFamily="34" charset="-120"/>
              </a:rPr>
              <a:t>Key Operational Value: IBM is on the hook for concrete code delivery, not just high-level PowerPoint roadmaps. · The ~30 APIs unlock straight-through processing for policy alterations, directly powering our digital customer journeys.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GOVERNANCE   |   AIA HONG KONG POS   |   SLIDE 05/18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Governance: GenAI Project on Anti-Money Laundering (AML)</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Nice Actimize Automated Screening and Multi-Phase Enhanced Due Diligence (EDD) Workflow</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Q1 2027
</a:t>
            </a:r>
            <a:pPr indent="0" marL="0">
              <a:buNone/>
            </a:pPr>
            <a:r>
              <a:rPr lang="en-US" sz="750" b="1" dirty="0">
                <a:solidFill>
                  <a:srgbClr val="334155"/>
                </a:solidFill>
                <a:latin typeface="Arial" pitchFamily="34" charset="0"/>
                <a:ea typeface="Arial" pitchFamily="34" charset="-122"/>
                <a:cs typeface="Arial" pitchFamily="34" charset="-120"/>
              </a:rPr>
              <a:t>Initial Target
</a:t>
            </a:r>
            <a:pPr indent="0" marL="0">
              <a:buNone/>
            </a:pPr>
            <a:r>
              <a:rPr lang="en-US" sz="650" dirty="0">
                <a:solidFill>
                  <a:srgbClr val="64748B"/>
                </a:solidFill>
                <a:latin typeface="Arial" pitchFamily="34" charset="0"/>
                <a:ea typeface="Arial" pitchFamily="34" charset="-122"/>
                <a:cs typeface="Arial" pitchFamily="34" charset="-120"/>
              </a:rPr>
              <a:t>Nice Actimize Name Screening</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5 Modules
</a:t>
            </a:r>
            <a:pPr indent="0" marL="0">
              <a:buNone/>
            </a:pPr>
            <a:r>
              <a:rPr lang="en-US" sz="750" b="1" dirty="0">
                <a:solidFill>
                  <a:srgbClr val="334155"/>
                </a:solidFill>
                <a:latin typeface="Arial" pitchFamily="34" charset="0"/>
                <a:ea typeface="Arial" pitchFamily="34" charset="-122"/>
                <a:cs typeface="Arial" pitchFamily="34" charset="-120"/>
              </a:rPr>
              <a:t>Subsequent Modules
</a:t>
            </a:r>
            <a:pPr indent="0" marL="0">
              <a:buNone/>
            </a:pPr>
            <a:r>
              <a:rPr lang="en-US" sz="650" dirty="0">
                <a:solidFill>
                  <a:srgbClr val="64748B"/>
                </a:solidFill>
                <a:latin typeface="Arial" pitchFamily="34" charset="0"/>
                <a:ea typeface="Arial" pitchFamily="34" charset="-122"/>
                <a:cs typeface="Arial" pitchFamily="34" charset="-120"/>
              </a:rPr>
              <a:t>Dow Jones · IDV · SOW/SOF · Trans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POS &amp; HRC
</a:t>
            </a:r>
            <a:pPr indent="0" marL="0">
              <a:buNone/>
            </a:pPr>
            <a:r>
              <a:rPr lang="en-US" sz="750" b="1" dirty="0">
                <a:solidFill>
                  <a:srgbClr val="334155"/>
                </a:solidFill>
                <a:latin typeface="Arial" pitchFamily="34" charset="0"/>
                <a:ea typeface="Arial" pitchFamily="34" charset="-122"/>
                <a:cs typeface="Arial" pitchFamily="34" charset="-120"/>
              </a:rPr>
              <a:t>Scope of Review
</a:t>
            </a:r>
            <a:pPr indent="0" marL="0">
              <a:buNone/>
            </a:pPr>
            <a:r>
              <a:rPr lang="en-US" sz="650" dirty="0">
                <a:solidFill>
                  <a:srgbClr val="64748B"/>
                </a:solidFill>
                <a:latin typeface="Arial" pitchFamily="34" charset="0"/>
                <a:ea typeface="Arial" pitchFamily="34" charset="-122"/>
                <a:cs typeface="Arial" pitchFamily="34" charset="-120"/>
              </a:rPr>
              <a:t>POS Change EDD · Ad Hoc · HRC</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AI Assisted
</a:t>
            </a:r>
            <a:pPr indent="0" marL="0">
              <a:buNone/>
            </a:pPr>
            <a:r>
              <a:rPr lang="en-US" sz="750" b="1" dirty="0">
                <a:solidFill>
                  <a:srgbClr val="334155"/>
                </a:solidFill>
                <a:latin typeface="Arial" pitchFamily="34" charset="0"/>
                <a:ea typeface="Arial" pitchFamily="34" charset="-122"/>
                <a:cs typeface="Arial" pitchFamily="34" charset="-120"/>
              </a:rPr>
              <a:t>Decisioning
</a:t>
            </a:r>
            <a:pPr indent="0" marL="0">
              <a:buNone/>
            </a:pPr>
            <a:r>
              <a:rPr lang="en-US" sz="650" dirty="0">
                <a:solidFill>
                  <a:srgbClr val="64748B"/>
                </a:solidFill>
                <a:latin typeface="Arial" pitchFamily="34" charset="0"/>
                <a:ea typeface="Arial" pitchFamily="34" charset="-122"/>
                <a:cs typeface="Arial" pitchFamily="34" charset="-120"/>
              </a:rPr>
              <a:t>Human-in-the-loop senior sign-off</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NAME SCREENING &amp; TRIAGE
</a:t>
            </a:r>
            <a:pPr indent="0" marL="0">
              <a:buNone/>
            </a:pPr>
            <a:r>
              <a:rPr lang="en-US" sz="1000" b="1" dirty="0">
                <a:solidFill>
                  <a:srgbClr val="0F172A"/>
                </a:solidFill>
                <a:latin typeface="Arial" pitchFamily="34" charset="0"/>
                <a:ea typeface="Arial" pitchFamily="34" charset="-122"/>
                <a:cs typeface="Arial" pitchFamily="34" charset="-120"/>
              </a:rPr>
              <a:t>Phase 1: Nice Actimize Screening (Q1 2027 Target)
</a:t>
            </a:r>
            <a:pPr indent="0" marL="0">
              <a:buNone/>
            </a:pPr>
            <a:r>
              <a:rPr lang="en-US" sz="750" dirty="0">
                <a:solidFill>
                  <a:srgbClr val="475569"/>
                </a:solidFill>
                <a:latin typeface="Arial" pitchFamily="34" charset="0"/>
                <a:ea typeface="Arial" pitchFamily="34" charset="-122"/>
                <a:cs typeface="Arial" pitchFamily="34" charset="-120"/>
              </a:rPr>
              <a:t>Deploying an end-to-end automated screening workflow connecting Nice Actimize with generative AI assessment engines.
</a:t>
            </a:r>
            <a:pPr indent="0" marL="0">
              <a:buNone/>
            </a:pPr>
            <a:r>
              <a:rPr lang="en-US" sz="700" dirty="0">
                <a:solidFill>
                  <a:srgbClr val="1E293B"/>
                </a:solidFill>
                <a:latin typeface="Arial" pitchFamily="34" charset="0"/>
                <a:ea typeface="Arial" pitchFamily="34" charset="-122"/>
                <a:cs typeface="Arial" pitchFamily="34" charset="-120"/>
              </a:rPr>
              <a:t>• Automated case intake and intelligent assignment based on risk score, policy size, and alert typology.
</a:t>
            </a:r>
            <a:pPr indent="0" marL="0">
              <a:buNone/>
            </a:pPr>
            <a:r>
              <a:rPr lang="en-US" sz="700" dirty="0">
                <a:solidFill>
                  <a:srgbClr val="1E293B"/>
                </a:solidFill>
                <a:latin typeface="Arial" pitchFamily="34" charset="0"/>
                <a:ea typeface="Arial" pitchFamily="34" charset="-122"/>
                <a:cs typeface="Arial" pitchFamily="34" charset="-120"/>
              </a:rPr>
              <a:t>• AI-assisted preliminary assessment: model contextualizes false positives against customer transaction histories and official lists.
</a:t>
            </a:r>
            <a:pPr indent="0" marL="0">
              <a:buNone/>
            </a:pPr>
            <a:r>
              <a:rPr lang="en-US" sz="700" dirty="0">
                <a:solidFill>
                  <a:srgbClr val="1E293B"/>
                </a:solidFill>
                <a:latin typeface="Arial" pitchFamily="34" charset="0"/>
                <a:ea typeface="Arial" pitchFamily="34" charset="-122"/>
                <a:cs typeface="Arial" pitchFamily="34" charset="-120"/>
              </a:rPr>
              <a:t>• Structured decision summary generated for compliance officers, streamlining the path to Senior Management approval.
</a:t>
            </a:r>
            <a:pPr indent="0" marL="0">
              <a:buNone/>
            </a:pPr>
            <a:r>
              <a:rPr lang="en-US" sz="650" i="1" dirty="0">
                <a:solidFill>
                  <a:srgbClr val="64748B"/>
                </a:solidFill>
                <a:latin typeface="Arial" pitchFamily="34" charset="0"/>
                <a:ea typeface="Arial" pitchFamily="34" charset="-122"/>
                <a:cs typeface="Arial" pitchFamily="34" charset="-120"/>
              </a:rPr>
              <a:t>Focus: Nice Actimize · Q1 2027 Target · Senior Approval Flow</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SUBSEQUENT EXPANSION
</a:t>
            </a:r>
            <a:pPr indent="0" marL="0">
              <a:buNone/>
            </a:pPr>
            <a:r>
              <a:rPr lang="en-US" sz="1000" b="1" dirty="0">
                <a:solidFill>
                  <a:srgbClr val="0F172A"/>
                </a:solidFill>
                <a:latin typeface="Arial" pitchFamily="34" charset="0"/>
                <a:ea typeface="Arial" pitchFamily="34" charset="-122"/>
                <a:cs typeface="Arial" pitchFamily="34" charset="-120"/>
              </a:rPr>
              <a:t>Phase 2: Advanced EDD Assessment Modules
</a:t>
            </a:r>
            <a:pPr indent="0" marL="0">
              <a:buNone/>
            </a:pPr>
            <a:r>
              <a:rPr lang="en-US" sz="750" dirty="0">
                <a:solidFill>
                  <a:srgbClr val="475569"/>
                </a:solidFill>
                <a:latin typeface="Arial" pitchFamily="34" charset="0"/>
                <a:ea typeface="Arial" pitchFamily="34" charset="-122"/>
                <a:cs typeface="Arial" pitchFamily="34" charset="-120"/>
              </a:rPr>
              <a:t>Scaling generative capabilities into deep investigative modules for complex customer profiles and High-Risk Customer (HRC) reviews.
</a:t>
            </a:r>
            <a:pPr indent="0" marL="0">
              <a:buNone/>
            </a:pPr>
            <a:r>
              <a:rPr lang="en-US" sz="700" dirty="0">
                <a:solidFill>
                  <a:srgbClr val="1E293B"/>
                </a:solidFill>
                <a:latin typeface="Arial" pitchFamily="34" charset="0"/>
                <a:ea typeface="Arial" pitchFamily="34" charset="-122"/>
                <a:cs typeface="Arial" pitchFamily="34" charset="-120"/>
              </a:rPr>
              <a:t>• Dow Jones Adverse Media &amp; PEP Search integration with automated relevance scoring and summary extraction.
</a:t>
            </a:r>
            <a:pPr indent="0" marL="0">
              <a:buNone/>
            </a:pPr>
            <a:r>
              <a:rPr lang="en-US" sz="700" dirty="0">
                <a:solidFill>
                  <a:srgbClr val="1E293B"/>
                </a:solidFill>
                <a:latin typeface="Arial" pitchFamily="34" charset="0"/>
                <a:ea typeface="Arial" pitchFamily="34" charset="-122"/>
                <a:cs typeface="Arial" pitchFamily="34" charset="-120"/>
              </a:rPr>
              <a:t>• Identity Verification (IDV) cross-referencing and Source of Wealth / Source of Funds (SOW/SOF) plausibility evaluation.
</a:t>
            </a:r>
            <a:pPr indent="0" marL="0">
              <a:buNone/>
            </a:pPr>
            <a:r>
              <a:rPr lang="en-US" sz="700" dirty="0">
                <a:solidFill>
                  <a:srgbClr val="1E293B"/>
                </a:solidFill>
                <a:latin typeface="Arial" pitchFamily="34" charset="0"/>
                <a:ea typeface="Arial" pitchFamily="34" charset="-122"/>
                <a:cs typeface="Arial" pitchFamily="34" charset="-120"/>
              </a:rPr>
              <a:t>• Specialized transaction review modules supporting POS Change EDD, Ad Hoc EDD, and periodic HRC compliance reassessments.
</a:t>
            </a:r>
            <a:pPr indent="0" marL="0">
              <a:buNone/>
            </a:pPr>
            <a:r>
              <a:rPr lang="en-US" sz="650" i="1" dirty="0">
                <a:solidFill>
                  <a:srgbClr val="64748B"/>
                </a:solidFill>
                <a:latin typeface="Arial" pitchFamily="34" charset="0"/>
                <a:ea typeface="Arial" pitchFamily="34" charset="-122"/>
                <a:cs typeface="Arial" pitchFamily="34" charset="-120"/>
              </a:rPr>
              <a:t>Focus: Dow Jones Search · SOW/SOF Analysis · HRC Case Reviews</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End-to-End GenAI AML Screening &amp; Senior Management Approval Pipeline
</a:t>
            </a:r>
            <a:pPr indent="0" marL="0">
              <a:buNone/>
            </a:pPr>
            <a:r>
              <a:rPr lang="en-US" sz="650" dirty="0">
                <a:solidFill>
                  <a:srgbClr val="CBD5E1"/>
                </a:solidFill>
                <a:latin typeface="Arial" pitchFamily="34" charset="0"/>
                <a:ea typeface="Arial" pitchFamily="34" charset="-122"/>
                <a:cs typeface="Arial" pitchFamily="34" charset="-120"/>
              </a:rPr>
              <a:t>[01] Automated Case Intake (Nice Actimize Engine): Screening alert generated on policy change request or periodic name batch   |   [02] GenAI Contextualization (AIA GenAI Copilot): Aggregates Dow Jones hits, historical filings, and cross-checks customer profile   |   [03] Investigator Review (AML Compliance Officer): Officer reviews AI synthesized dossier, notes discrepancies, validates facts   |   [04] Senior Approval (Senior Management): One-click executive approval pack with complete regulatory audit trail
</a:t>
            </a:r>
            <a:pPr indent="0" marL="0">
              <a:buNone/>
            </a:pPr>
            <a:r>
              <a:rPr lang="en-US" sz="650" b="1" dirty="0">
                <a:solidFill>
                  <a:srgbClr val="F43F5E"/>
                </a:solidFill>
                <a:latin typeface="Arial" pitchFamily="34" charset="0"/>
                <a:ea typeface="Arial" pitchFamily="34" charset="-122"/>
                <a:cs typeface="Arial" pitchFamily="34" charset="-120"/>
              </a:rPr>
              <a:t>Key Operational Value: GenAI dramatically cuts false-positive research time while strengthening audit consistency. · Strict human-in-the-loop governance: AI assists and synthesizes, but Senior Management retains ultimate sign-off.</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GOVERNANCE   |   AIA HONG KONG POS   |   SLIDE 06/18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Governance: CRS 2.0 Development &amp; CRS Statement Project</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Preparing for Tightened OECD Due Diligence and Comprehensive Customer Tax Declaration Statements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 Jan 2027
</a:t>
            </a:r>
            <a:pPr indent="0" marL="0">
              <a:buNone/>
            </a:pPr>
            <a:r>
              <a:rPr lang="en-US" sz="750" b="1" dirty="0">
                <a:solidFill>
                  <a:srgbClr val="334155"/>
                </a:solidFill>
                <a:latin typeface="Arial" pitchFamily="34" charset="0"/>
                <a:ea typeface="Arial" pitchFamily="34" charset="-122"/>
                <a:cs typeface="Arial" pitchFamily="34" charset="-120"/>
              </a:rPr>
              <a:t>Admin Mandate
</a:t>
            </a:r>
            <a:pPr indent="0" marL="0">
              <a:buNone/>
            </a:pPr>
            <a:r>
              <a:rPr lang="en-US" sz="650" dirty="0">
                <a:solidFill>
                  <a:srgbClr val="64748B"/>
                </a:solidFill>
                <a:latin typeface="Arial" pitchFamily="34" charset="0"/>
                <a:ea typeface="Arial" pitchFamily="34" charset="-122"/>
                <a:cs typeface="Arial" pitchFamily="34" charset="-120"/>
              </a:rPr>
              <a:t>Tightened Due Diligence rules</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 Jan 2028
</a:t>
            </a:r>
            <a:pPr indent="0" marL="0">
              <a:buNone/>
            </a:pPr>
            <a:r>
              <a:rPr lang="en-US" sz="750" b="1" dirty="0">
                <a:solidFill>
                  <a:srgbClr val="334155"/>
                </a:solidFill>
                <a:latin typeface="Arial" pitchFamily="34" charset="0"/>
                <a:ea typeface="Arial" pitchFamily="34" charset="-122"/>
                <a:cs typeface="Arial" pitchFamily="34" charset="-120"/>
              </a:rPr>
              <a:t>Reporting Mandate
</a:t>
            </a:r>
            <a:pPr indent="0" marL="0">
              <a:buNone/>
            </a:pPr>
            <a:r>
              <a:rPr lang="en-US" sz="650" dirty="0">
                <a:solidFill>
                  <a:srgbClr val="64748B"/>
                </a:solidFill>
                <a:latin typeface="Arial" pitchFamily="34" charset="0"/>
                <a:ea typeface="Arial" pitchFamily="34" charset="-122"/>
                <a:cs typeface="Arial" pitchFamily="34" charset="-120"/>
              </a:rPr>
              <a:t>Inland Revenue Dept reporting</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Joint WG
</a:t>
            </a:r>
            <a:pPr indent="0" marL="0">
              <a:buNone/>
            </a:pPr>
            <a:r>
              <a:rPr lang="en-US" sz="750" b="1" dirty="0">
                <a:solidFill>
                  <a:srgbClr val="334155"/>
                </a:solidFill>
                <a:latin typeface="Arial" pitchFamily="34" charset="0"/>
                <a:ea typeface="Arial" pitchFamily="34" charset="-122"/>
                <a:cs typeface="Arial" pitchFamily="34" charset="-120"/>
              </a:rPr>
              <a:t>Stakeholder Team
</a:t>
            </a:r>
            <a:pPr indent="0" marL="0">
              <a:buNone/>
            </a:pPr>
            <a:r>
              <a:rPr lang="en-US" sz="650" dirty="0">
                <a:solidFill>
                  <a:srgbClr val="64748B"/>
                </a:solidFill>
                <a:latin typeface="Arial" pitchFamily="34" charset="0"/>
                <a:ea typeface="Arial" pitchFamily="34" charset="-122"/>
                <a:cs typeface="Arial" pitchFamily="34" charset="-120"/>
              </a:rPr>
              <a:t>POS · Legal · Tax · IT · Agency</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CRS Statement
</a:t>
            </a:r>
            <a:pPr indent="0" marL="0">
              <a:buNone/>
            </a:pPr>
            <a:r>
              <a:rPr lang="en-US" sz="750" b="1" dirty="0">
                <a:solidFill>
                  <a:srgbClr val="334155"/>
                </a:solidFill>
                <a:latin typeface="Arial" pitchFamily="34" charset="0"/>
                <a:ea typeface="Arial" pitchFamily="34" charset="-122"/>
                <a:cs typeface="Arial" pitchFamily="34" charset="-120"/>
              </a:rPr>
              <a:t>Customer Tool
</a:t>
            </a:r>
            <a:pPr indent="0" marL="0">
              <a:buNone/>
            </a:pPr>
            <a:r>
              <a:rPr lang="en-US" sz="650" dirty="0">
                <a:solidFill>
                  <a:srgbClr val="64748B"/>
                </a:solidFill>
                <a:latin typeface="Arial" pitchFamily="34" charset="0"/>
                <a:ea typeface="Arial" pitchFamily="34" charset="-122"/>
                <a:cs typeface="Arial" pitchFamily="34" charset="-120"/>
              </a:rPr>
              <a:t>Multi-jurisdiction tax declaration</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REGULATORY OVERHAUL
</a:t>
            </a:r>
            <a:pPr indent="0" marL="0">
              <a:buNone/>
            </a:pPr>
            <a:r>
              <a:rPr lang="en-US" sz="1000" b="1" dirty="0">
                <a:solidFill>
                  <a:srgbClr val="0F172A"/>
                </a:solidFill>
                <a:latin typeface="Arial" pitchFamily="34" charset="0"/>
                <a:ea typeface="Arial" pitchFamily="34" charset="-122"/>
                <a:cs typeface="Arial" pitchFamily="34" charset="-120"/>
              </a:rPr>
              <a:t>CRS 2.0 Comprehensive System Enhancements
</a:t>
            </a:r>
            <a:pPr indent="0" marL="0">
              <a:buNone/>
            </a:pPr>
            <a:r>
              <a:rPr lang="en-US" sz="750" dirty="0">
                <a:solidFill>
                  <a:srgbClr val="475569"/>
                </a:solidFill>
                <a:latin typeface="Arial" pitchFamily="34" charset="0"/>
                <a:ea typeface="Arial" pitchFamily="34" charset="-122"/>
                <a:cs typeface="Arial" pitchFamily="34" charset="-120"/>
              </a:rPr>
              <a:t>Implementing an extensive matrix of inter-related system enhancements and operational procedures per OECD tightened CRS rules.
</a:t>
            </a:r>
            <a:pPr indent="0" marL="0">
              <a:buNone/>
            </a:pPr>
            <a:r>
              <a:rPr lang="en-US" sz="700" dirty="0">
                <a:solidFill>
                  <a:srgbClr val="1E293B"/>
                </a:solidFill>
                <a:latin typeface="Arial" pitchFamily="34" charset="0"/>
                <a:ea typeface="Arial" pitchFamily="34" charset="-122"/>
                <a:cs typeface="Arial" pitchFamily="34" charset="-120"/>
              </a:rPr>
              <a:t>• Upgrading self-certification forms, validation engines, and change-in-circumstance monitoring protocols.
</a:t>
            </a:r>
            <a:pPr indent="0" marL="0">
              <a:buNone/>
            </a:pPr>
            <a:r>
              <a:rPr lang="en-US" sz="700" dirty="0">
                <a:solidFill>
                  <a:srgbClr val="1E293B"/>
                </a:solidFill>
                <a:latin typeface="Arial" pitchFamily="34" charset="0"/>
                <a:ea typeface="Arial" pitchFamily="34" charset="-122"/>
                <a:cs typeface="Arial" pitchFamily="34" charset="-120"/>
              </a:rPr>
              <a:t>• Enforcing strict automated controls across controlling persons, tax residency declarations, and TIN validations.
</a:t>
            </a:r>
            <a:pPr indent="0" marL="0">
              <a:buNone/>
            </a:pPr>
            <a:r>
              <a:rPr lang="en-US" sz="700" dirty="0">
                <a:solidFill>
                  <a:srgbClr val="1E293B"/>
                </a:solidFill>
                <a:latin typeface="Arial" pitchFamily="34" charset="0"/>
                <a:ea typeface="Arial" pitchFamily="34" charset="-122"/>
                <a:cs typeface="Arial" pitchFamily="34" charset="-120"/>
              </a:rPr>
              <a:t>• Two-phase statutory timeline: Administrative framework live 1 Jan 2027; full reporting requirement live 1 Jan 2028.
</a:t>
            </a:r>
            <a:pPr indent="0" marL="0">
              <a:buNone/>
            </a:pPr>
            <a:r>
              <a:rPr lang="en-US" sz="650" i="1" dirty="0">
                <a:solidFill>
                  <a:srgbClr val="64748B"/>
                </a:solidFill>
                <a:latin typeface="Arial" pitchFamily="34" charset="0"/>
                <a:ea typeface="Arial" pitchFamily="34" charset="-122"/>
                <a:cs typeface="Arial" pitchFamily="34" charset="-120"/>
              </a:rPr>
              <a:t>Focus: OECD CRS 2.0 · 1 Jan 2027 Admin · 1 Jan 2028 Reporting</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CUSTOMER TRANSPARENCY
</a:t>
            </a:r>
            <a:pPr indent="0" marL="0">
              <a:buNone/>
            </a:pPr>
            <a:r>
              <a:rPr lang="en-US" sz="1000" b="1" dirty="0">
                <a:solidFill>
                  <a:srgbClr val="0F172A"/>
                </a:solidFill>
                <a:latin typeface="Arial" pitchFamily="34" charset="0"/>
                <a:ea typeface="Arial" pitchFamily="34" charset="-122"/>
                <a:cs typeface="Arial" pitchFamily="34" charset="-120"/>
              </a:rPr>
              <a:t>Customer CRS Statement Project
</a:t>
            </a:r>
            <a:pPr indent="0" marL="0">
              <a:buNone/>
            </a:pPr>
            <a:r>
              <a:rPr lang="en-US" sz="750" dirty="0">
                <a:solidFill>
                  <a:srgbClr val="475569"/>
                </a:solidFill>
                <a:latin typeface="Arial" pitchFamily="34" charset="0"/>
                <a:ea typeface="Arial" pitchFamily="34" charset="-122"/>
                <a:cs typeface="Arial" pitchFamily="34" charset="-120"/>
              </a:rPr>
              <a:t>Exploring and implementing customer-facing CRS statements to facilitate cross-border tax declaration across relevant jurisdictions.
</a:t>
            </a:r>
            <a:pPr indent="0" marL="0">
              <a:buNone/>
            </a:pPr>
            <a:r>
              <a:rPr lang="en-US" sz="700" dirty="0">
                <a:solidFill>
                  <a:srgbClr val="1E293B"/>
                </a:solidFill>
                <a:latin typeface="Arial" pitchFamily="34" charset="0"/>
                <a:ea typeface="Arial" pitchFamily="34" charset="-122"/>
                <a:cs typeface="Arial" pitchFamily="34" charset="-120"/>
              </a:rPr>
              <a:t>• Formed dedicated cross-functional workgroup across POS, Tax, Legal, Compliance, and IT stakeholders.
</a:t>
            </a:r>
            <a:pPr indent="0" marL="0">
              <a:buNone/>
            </a:pPr>
            <a:r>
              <a:rPr lang="en-US" sz="700" dirty="0">
                <a:solidFill>
                  <a:srgbClr val="1E293B"/>
                </a:solidFill>
                <a:latin typeface="Arial" pitchFamily="34" charset="0"/>
                <a:ea typeface="Arial" pitchFamily="34" charset="-122"/>
                <a:cs typeface="Arial" pitchFamily="34" charset="-120"/>
              </a:rPr>
              <a:t>• Provides policyholders with certified annual summaries of policy cash values, surrender amounts, and reportable gains.
</a:t>
            </a:r>
            <a:pPr indent="0" marL="0">
              <a:buNone/>
            </a:pPr>
            <a:r>
              <a:rPr lang="en-US" sz="700" dirty="0">
                <a:solidFill>
                  <a:srgbClr val="1E293B"/>
                </a:solidFill>
                <a:latin typeface="Arial" pitchFamily="34" charset="0"/>
                <a:ea typeface="Arial" pitchFamily="34" charset="-122"/>
                <a:cs typeface="Arial" pitchFamily="34" charset="-120"/>
              </a:rPr>
              <a:t>• Directly addresses surging customer demand for transparent tax records, reducing ad-hoc inquiries to customer service centers.
</a:t>
            </a:r>
            <a:pPr indent="0" marL="0">
              <a:buNone/>
            </a:pPr>
            <a:r>
              <a:rPr lang="en-US" sz="650" i="1" dirty="0">
                <a:solidFill>
                  <a:srgbClr val="64748B"/>
                </a:solidFill>
                <a:latin typeface="Arial" pitchFamily="34" charset="0"/>
                <a:ea typeface="Arial" pitchFamily="34" charset="-122"/>
                <a:cs typeface="Arial" pitchFamily="34" charset="-120"/>
              </a:rPr>
              <a:t>Focus: CRS Statement · Cross-Functional WG · Tax Declaration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CRS 2.0 Statutory Milestone &amp; System Delivery Roadmap
</a:t>
            </a:r>
            <a:pPr indent="0" marL="0">
              <a:buNone/>
            </a:pPr>
            <a:r>
              <a:rPr lang="en-US" sz="650" dirty="0">
                <a:solidFill>
                  <a:srgbClr val="CBD5E1"/>
                </a:solidFill>
                <a:latin typeface="Arial" pitchFamily="34" charset="0"/>
                <a:ea typeface="Arial" pitchFamily="34" charset="-122"/>
                <a:cs typeface="Arial" pitchFamily="34" charset="-120"/>
              </a:rPr>
              <a:t>[2026 Q3–Q4] Workgroup Formulation &amp; Architecture Gap Analysis: Establish cross-functional workgroup; finalize CRS Statement specification and system requirements.   |   [2027 Jan 1] CRS 2.0 Administrative Framework Effective Date: Deploy upgraded self-certification, TIN validation, and enhanced change-in-circumstance triggers.   |   [2027 Q3] CRS Statement Customer Portal Pilot: Roll out automated downloadable CRS statements in AIA+ portal for eligible policyholders.   |   [2028 Jan 1] CRS 2.0 Statutory Reporting Regime Effective Date: Full automated batch transmission of annual reportable accounts to Hong Kong Inland Revenue Department.
</a:t>
            </a:r>
            <a:pPr indent="0" marL="0">
              <a:buNone/>
            </a:pPr>
            <a:r>
              <a:rPr lang="en-US" sz="650" b="1" dirty="0">
                <a:solidFill>
                  <a:srgbClr val="F43F5E"/>
                </a:solidFill>
                <a:latin typeface="Arial" pitchFamily="34" charset="0"/>
                <a:ea typeface="Arial" pitchFamily="34" charset="-122"/>
                <a:cs typeface="Arial" pitchFamily="34" charset="-120"/>
              </a:rPr>
              <a:t>Key Operational Value: CRS 2.0 requires extensive systemic re-plumbing of account records and continuous due diligence. · The CRS Statement project converts a pure regulatory burden into a high-value customer service touchpoint.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GOVERNANCE   |   AIA HONG KONG POS   |   SLIDE 07/18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Governance: Risk &amp; Compliance Engineering &amp; IRD Remediation</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IRD 700 Policy Audit Implementation, GIA Continuous Audits &amp; Smart ID eKYC Integration</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700 Policies
</a:t>
            </a:r>
            <a:pPr indent="0" marL="0">
              <a:buNone/>
            </a:pPr>
            <a:r>
              <a:rPr lang="en-US" sz="750" b="1" dirty="0">
                <a:solidFill>
                  <a:srgbClr val="334155"/>
                </a:solidFill>
                <a:latin typeface="Arial" pitchFamily="34" charset="0"/>
                <a:ea typeface="Arial" pitchFamily="34" charset="-122"/>
                <a:cs typeface="Arial" pitchFamily="34" charset="-120"/>
              </a:rPr>
              <a:t>IRD Scope
</a:t>
            </a:r>
            <a:pPr indent="0" marL="0">
              <a:buNone/>
            </a:pPr>
            <a:r>
              <a:rPr lang="en-US" sz="650" dirty="0">
                <a:solidFill>
                  <a:srgbClr val="64748B"/>
                </a:solidFill>
                <a:latin typeface="Arial" pitchFamily="34" charset="0"/>
                <a:ea typeface="Arial" pitchFamily="34" charset="-122"/>
                <a:cs typeface="Arial" pitchFamily="34" charset="-120"/>
              </a:rPr>
              <a:t>Audit feedback rule integration</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100% Rules
</a:t>
            </a:r>
            <a:pPr indent="0" marL="0">
              <a:buNone/>
            </a:pPr>
            <a:r>
              <a:rPr lang="en-US" sz="750" b="1" dirty="0">
                <a:solidFill>
                  <a:srgbClr val="334155"/>
                </a:solidFill>
                <a:latin typeface="Arial" pitchFamily="34" charset="0"/>
                <a:ea typeface="Arial" pitchFamily="34" charset="-122"/>
                <a:cs typeface="Arial" pitchFamily="34" charset="-120"/>
              </a:rPr>
              <a:t>Data Formatting
</a:t>
            </a:r>
            <a:pPr indent="0" marL="0">
              <a:buNone/>
            </a:pPr>
            <a:r>
              <a:rPr lang="en-US" sz="650" dirty="0">
                <a:solidFill>
                  <a:srgbClr val="64748B"/>
                </a:solidFill>
                <a:latin typeface="Arial" pitchFamily="34" charset="0"/>
                <a:ea typeface="Arial" pitchFamily="34" charset="-122"/>
                <a:cs typeface="Arial" pitchFamily="34" charset="-120"/>
              </a:rPr>
              <a:t>Address, phone, email format checks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Smart ID
</a:t>
            </a:r>
            <a:pPr indent="0" marL="0">
              <a:buNone/>
            </a:pPr>
            <a:r>
              <a:rPr lang="en-US" sz="750" b="1" dirty="0">
                <a:solidFill>
                  <a:srgbClr val="334155"/>
                </a:solidFill>
                <a:latin typeface="Arial" pitchFamily="34" charset="0"/>
                <a:ea typeface="Arial" pitchFamily="34" charset="-122"/>
                <a:cs typeface="Arial" pitchFamily="34" charset="-120"/>
              </a:rPr>
              <a:t>Identity Capture
</a:t>
            </a:r>
            <a:pPr indent="0" marL="0">
              <a:buNone/>
            </a:pPr>
            <a:r>
              <a:rPr lang="en-US" sz="650" dirty="0">
                <a:solidFill>
                  <a:srgbClr val="64748B"/>
                </a:solidFill>
                <a:latin typeface="Arial" pitchFamily="34" charset="0"/>
                <a:ea typeface="Arial" pitchFamily="34" charset="-122"/>
                <a:cs typeface="Arial" pitchFamily="34" charset="-120"/>
              </a:rPr>
              <a:t>eKYC embedded in AIA+ / iChange</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GIA Aligned
</a:t>
            </a:r>
            <a:pPr indent="0" marL="0">
              <a:buNone/>
            </a:pPr>
            <a:r>
              <a:rPr lang="en-US" sz="750" b="1" dirty="0">
                <a:solidFill>
                  <a:srgbClr val="334155"/>
                </a:solidFill>
                <a:latin typeface="Arial" pitchFamily="34" charset="0"/>
                <a:ea typeface="Arial" pitchFamily="34" charset="-122"/>
                <a:cs typeface="Arial" pitchFamily="34" charset="-120"/>
              </a:rPr>
              <a:t>Continuous Audit
</a:t>
            </a:r>
            <a:pPr indent="0" marL="0">
              <a:buNone/>
            </a:pPr>
            <a:r>
              <a:rPr lang="en-US" sz="650" dirty="0">
                <a:solidFill>
                  <a:srgbClr val="64748B"/>
                </a:solidFill>
                <a:latin typeface="Arial" pitchFamily="34" charset="0"/>
                <a:ea typeface="Arial" pitchFamily="34" charset="-122"/>
                <a:cs typeface="Arial" pitchFamily="34" charset="-120"/>
              </a:rPr>
              <a:t>Automated policy servicing guardrails</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TAX SERVICING COMPLIANCE
</a:t>
            </a:r>
            <a:pPr indent="0" marL="0">
              <a:buNone/>
            </a:pPr>
            <a:r>
              <a:rPr lang="en-US" sz="1000" b="1" dirty="0">
                <a:solidFill>
                  <a:srgbClr val="0F172A"/>
                </a:solidFill>
                <a:latin typeface="Arial" pitchFamily="34" charset="0"/>
                <a:ea typeface="Arial" pitchFamily="34" charset="-122"/>
                <a:cs typeface="Arial" pitchFamily="34" charset="-120"/>
              </a:rPr>
              <a:t>IRD Review Action Implementation (700 Cases)
</a:t>
            </a:r>
            <a:pPr indent="0" marL="0">
              <a:buNone/>
            </a:pPr>
            <a:r>
              <a:rPr lang="en-US" sz="750" dirty="0">
                <a:solidFill>
                  <a:srgbClr val="475569"/>
                </a:solidFill>
                <a:latin typeface="Arial" pitchFamily="34" charset="0"/>
                <a:ea typeface="Arial" pitchFamily="34" charset="-122"/>
                <a:cs typeface="Arial" pitchFamily="34" charset="-120"/>
              </a:rPr>
              <a:t>Direct integration of Inland Revenue Department audit findings into automated POS servicing rule engines.
</a:t>
            </a:r>
            <a:pPr indent="0" marL="0">
              <a:buNone/>
            </a:pPr>
            <a:r>
              <a:rPr lang="en-US" sz="700" dirty="0">
                <a:solidFill>
                  <a:srgbClr val="1E293B"/>
                </a:solidFill>
                <a:latin typeface="Arial" pitchFamily="34" charset="0"/>
                <a:ea typeface="Arial" pitchFamily="34" charset="-122"/>
                <a:cs typeface="Arial" pitchFamily="34" charset="-120"/>
              </a:rPr>
              <a:t>• Rigorous systemic review across 700 sample policy cases identified during IRD compliance inspections.
</a:t>
            </a:r>
            <a:pPr indent="0" marL="0">
              <a:buNone/>
            </a:pPr>
            <a:r>
              <a:rPr lang="en-US" sz="700" dirty="0">
                <a:solidFill>
                  <a:srgbClr val="1E293B"/>
                </a:solidFill>
                <a:latin typeface="Arial" pitchFamily="34" charset="0"/>
                <a:ea typeface="Arial" pitchFamily="34" charset="-122"/>
                <a:cs typeface="Arial" pitchFamily="34" charset="-120"/>
              </a:rPr>
              <a:t>• Hardcoded automated compliance checks within policy alteration rule engines to guarantee tax reporting accuracy.
</a:t>
            </a:r>
            <a:pPr indent="0" marL="0">
              <a:buNone/>
            </a:pPr>
            <a:r>
              <a:rPr lang="en-US" sz="700" dirty="0">
                <a:solidFill>
                  <a:srgbClr val="1E293B"/>
                </a:solidFill>
                <a:latin typeface="Arial" pitchFamily="34" charset="0"/>
                <a:ea typeface="Arial" pitchFamily="34" charset="-122"/>
                <a:cs typeface="Arial" pitchFamily="34" charset="-120"/>
              </a:rPr>
              <a:t>• Eliminates potential for human oversight or discretionary bypass in reportable policy modifications.
</a:t>
            </a:r>
            <a:pPr indent="0" marL="0">
              <a:buNone/>
            </a:pPr>
            <a:r>
              <a:rPr lang="en-US" sz="650" i="1" dirty="0">
                <a:solidFill>
                  <a:srgbClr val="64748B"/>
                </a:solidFill>
                <a:latin typeface="Arial" pitchFamily="34" charset="0"/>
                <a:ea typeface="Arial" pitchFamily="34" charset="-122"/>
                <a:cs typeface="Arial" pitchFamily="34" charset="-120"/>
              </a:rPr>
              <a:t>Focus: IRD 700 Cases · Automated Rule Engines · Tax Compliance</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DATA INTEGRITY &amp; IDENTITY
</a:t>
            </a:r>
            <a:pPr indent="0" marL="0">
              <a:buNone/>
            </a:pPr>
            <a:r>
              <a:rPr lang="en-US" sz="1000" b="1" dirty="0">
                <a:solidFill>
                  <a:srgbClr val="0F172A"/>
                </a:solidFill>
                <a:latin typeface="Arial" pitchFamily="34" charset="0"/>
                <a:ea typeface="Arial" pitchFamily="34" charset="-122"/>
                <a:cs typeface="Arial" pitchFamily="34" charset="-120"/>
              </a:rPr>
              <a:t>GIA Continuous Audits &amp; Smart ID eKYC
</a:t>
            </a:r>
            <a:pPr indent="0" marL="0">
              <a:buNone/>
            </a:pPr>
            <a:r>
              <a:rPr lang="en-US" sz="750" dirty="0">
                <a:solidFill>
                  <a:srgbClr val="475569"/>
                </a:solidFill>
                <a:latin typeface="Arial" pitchFamily="34" charset="0"/>
                <a:ea typeface="Arial" pitchFamily="34" charset="-122"/>
                <a:cs typeface="Arial" pitchFamily="34" charset="-120"/>
              </a:rPr>
              <a:t>Executing audit recommendations from Group Internal Audit (GIA) while modernizing customer identity collection.
</a:t>
            </a:r>
            <a:pPr indent="0" marL="0">
              <a:buNone/>
            </a:pPr>
            <a:r>
              <a:rPr lang="en-US" sz="700" dirty="0">
                <a:solidFill>
                  <a:srgbClr val="1E293B"/>
                </a:solidFill>
                <a:latin typeface="Arial" pitchFamily="34" charset="0"/>
                <a:ea typeface="Arial" pitchFamily="34" charset="-122"/>
                <a:cs typeface="Arial" pitchFamily="34" charset="-120"/>
              </a:rPr>
              <a:t>• Deployed continuous format validation engines for customer residential addresses, international mobile numbers, and email syntax.
</a:t>
            </a:r>
            <a:pPr indent="0" marL="0">
              <a:buNone/>
            </a:pPr>
            <a:r>
              <a:rPr lang="en-US" sz="700" dirty="0">
                <a:solidFill>
                  <a:srgbClr val="1E293B"/>
                </a:solidFill>
                <a:latin typeface="Arial" pitchFamily="34" charset="0"/>
                <a:ea typeface="Arial" pitchFamily="34" charset="-122"/>
                <a:cs typeface="Arial" pitchFamily="34" charset="-120"/>
              </a:rPr>
              <a:t>• Integrated eKYC technology into AIA+ and iChange to collect authenticated Hong Kong Smart Identity Card (Smart ID) copies.
</a:t>
            </a:r>
            <a:pPr indent="0" marL="0">
              <a:buNone/>
            </a:pPr>
            <a:r>
              <a:rPr lang="en-US" sz="700" dirty="0">
                <a:solidFill>
                  <a:srgbClr val="1E293B"/>
                </a:solidFill>
                <a:latin typeface="Arial" pitchFamily="34" charset="0"/>
                <a:ea typeface="Arial" pitchFamily="34" charset="-122"/>
                <a:cs typeface="Arial" pitchFamily="34" charset="-120"/>
              </a:rPr>
              <a:t>• Guarantees pristine master customer data records, closing gaps identified during internal and external audit reviews.
</a:t>
            </a:r>
            <a:pPr indent="0" marL="0">
              <a:buNone/>
            </a:pPr>
            <a:r>
              <a:rPr lang="en-US" sz="650" i="1" dirty="0">
                <a:solidFill>
                  <a:srgbClr val="64748B"/>
                </a:solidFill>
                <a:latin typeface="Arial" pitchFamily="34" charset="0"/>
                <a:ea typeface="Arial" pitchFamily="34" charset="-122"/>
                <a:cs typeface="Arial" pitchFamily="34" charset="-120"/>
              </a:rPr>
              <a:t>Focus: GIA Recommendations · Smart ID eKYC · Data Hygiene</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Automated Regulatory Servicing Rule Engine Architecture
</a:t>
            </a:r>
            <a:pPr indent="0" marL="0">
              <a:buNone/>
            </a:pPr>
            <a:r>
              <a:rPr lang="en-US" sz="650" dirty="0">
                <a:solidFill>
                  <a:srgbClr val="CBD5E1"/>
                </a:solidFill>
                <a:latin typeface="Arial" pitchFamily="34" charset="0"/>
                <a:ea typeface="Arial" pitchFamily="34" charset="-122"/>
                <a:cs typeface="Arial" pitchFamily="34" charset="-120"/>
              </a:rPr>
              <a:t>[Capture] AIA+ / iChange Intake (Digital Channels): Customer inputs change details &amp; scans updated HK Smart ID via camera eKYC   |   [Format Validation] GIA Continuous Filter (Validation Microservice): Real-time format check: HK address standard, ITU-T phone format, RFC email check   |   [Tax Compliance] IRD Rule Engine (700 Cases) (Regulatory Servicing Engine): Evaluates tax classification, controlling person rules, and CRS reportability flags   |   [Commitment] Master Core Update (Core PAS DB): Approved update committed to policy ledger with immutable audit trail
</a:t>
            </a:r>
            <a:pPr indent="0" marL="0">
              <a:buNone/>
            </a:pPr>
            <a:r>
              <a:rPr lang="en-US" sz="650" b="1" dirty="0">
                <a:solidFill>
                  <a:srgbClr val="F43F5E"/>
                </a:solidFill>
                <a:latin typeface="Arial" pitchFamily="34" charset="0"/>
                <a:ea typeface="Arial" pitchFamily="34" charset="-122"/>
                <a:cs typeface="Arial" pitchFamily="34" charset="-120"/>
              </a:rPr>
              <a:t>Key Operational Value: GIA and IRD audit feedback is systematically converted into automated software rules rather than manual checklists. · Smart ID eKYC collection in AIA+ ensures regulatory document compliance without requiring branch paper submissions.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HNW SERVICING   |   AIA HONG KONG POS   |   SLIDE 08/18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HNW Priority: Handler Readiness &amp; Agency Distribution Expansion</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Elevating Complex Case Capabilities and Extending the Servicing Model from Brokerage to Agency</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 Channels
</a:t>
            </a:r>
            <a:pPr indent="0" marL="0">
              <a:buNone/>
            </a:pPr>
            <a:r>
              <a:rPr lang="en-US" sz="750" b="1" dirty="0">
                <a:solidFill>
                  <a:srgbClr val="334155"/>
                </a:solidFill>
                <a:latin typeface="Arial" pitchFamily="34" charset="0"/>
                <a:ea typeface="Arial" pitchFamily="34" charset="-122"/>
                <a:cs typeface="Arial" pitchFamily="34" charset="-120"/>
              </a:rPr>
              <a:t>Distribution Reach
</a:t>
            </a:r>
            <a:pPr indent="0" marL="0">
              <a:buNone/>
            </a:pPr>
            <a:r>
              <a:rPr lang="en-US" sz="650" dirty="0">
                <a:solidFill>
                  <a:srgbClr val="64748B"/>
                </a:solidFill>
                <a:latin typeface="Arial" pitchFamily="34" charset="0"/>
                <a:ea typeface="Arial" pitchFamily="34" charset="-122"/>
                <a:cs typeface="Arial" pitchFamily="34" charset="-120"/>
              </a:rPr>
              <a:t>Brokerage · Bancassurance · Agency</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TxH to HK
</a:t>
            </a:r>
            <a:pPr indent="0" marL="0">
              <a:buNone/>
            </a:pPr>
            <a:r>
              <a:rPr lang="en-US" sz="750" b="1" dirty="0">
                <a:solidFill>
                  <a:srgbClr val="334155"/>
                </a:solidFill>
                <a:latin typeface="Arial" pitchFamily="34" charset="0"/>
                <a:ea typeface="Arial" pitchFamily="34" charset="-122"/>
                <a:cs typeface="Arial" pitchFamily="34" charset="-120"/>
              </a:rPr>
              <a:t>Training Visit
</a:t>
            </a:r>
            <a:pPr indent="0" marL="0">
              <a:buNone/>
            </a:pPr>
            <a:r>
              <a:rPr lang="en-US" sz="650" dirty="0">
                <a:solidFill>
                  <a:srgbClr val="64748B"/>
                </a:solidFill>
                <a:latin typeface="Arial" pitchFamily="34" charset="0"/>
                <a:ea typeface="Arial" pitchFamily="34" charset="-122"/>
                <a:cs typeface="Arial" pitchFamily="34" charset="-120"/>
              </a:rPr>
              <a:t>Deep-dive alignment on complex HNW</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Trust &amp; Assign
</a:t>
            </a:r>
            <a:pPr indent="0" marL="0">
              <a:buNone/>
            </a:pPr>
            <a:r>
              <a:rPr lang="en-US" sz="750" b="1" dirty="0">
                <a:solidFill>
                  <a:srgbClr val="334155"/>
                </a:solidFill>
                <a:latin typeface="Arial" pitchFamily="34" charset="0"/>
                <a:ea typeface="Arial" pitchFamily="34" charset="-122"/>
                <a:cs typeface="Arial" pitchFamily="34" charset="-120"/>
              </a:rPr>
              <a:t>Complex Cases
</a:t>
            </a:r>
            <a:pPr indent="0" marL="0">
              <a:buNone/>
            </a:pPr>
            <a:r>
              <a:rPr lang="en-US" sz="650" dirty="0">
                <a:solidFill>
                  <a:srgbClr val="64748B"/>
                </a:solidFill>
                <a:latin typeface="Arial" pitchFamily="34" charset="0"/>
                <a:ea typeface="Arial" pitchFamily="34" charset="-122"/>
                <a:cs typeface="Arial" pitchFamily="34" charset="-120"/>
              </a:rPr>
              <a:t>Standardized SOPs &amp; checklist rigor</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-45% Target
</a:t>
            </a:r>
            <a:pPr indent="0" marL="0">
              <a:buNone/>
            </a:pPr>
            <a:r>
              <a:rPr lang="en-US" sz="750" b="1" dirty="0">
                <a:solidFill>
                  <a:srgbClr val="334155"/>
                </a:solidFill>
                <a:latin typeface="Arial" pitchFamily="34" charset="0"/>
                <a:ea typeface="Arial" pitchFamily="34" charset="-122"/>
                <a:cs typeface="Arial" pitchFamily="34" charset="-120"/>
              </a:rPr>
              <a:t>Escalation Rate
</a:t>
            </a:r>
            <a:pPr indent="0" marL="0">
              <a:buNone/>
            </a:pPr>
            <a:r>
              <a:rPr lang="en-US" sz="650" dirty="0">
                <a:solidFill>
                  <a:srgbClr val="64748B"/>
                </a:solidFill>
                <a:latin typeface="Arial" pitchFamily="34" charset="0"/>
                <a:ea typeface="Arial" pitchFamily="34" charset="-122"/>
                <a:cs typeface="Arial" pitchFamily="34" charset="-120"/>
              </a:rPr>
              <a:t>Frontline technical self-sufficiency</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SPECIALIZED EXPERTISE
</a:t>
            </a:r>
            <a:pPr indent="0" marL="0">
              <a:buNone/>
            </a:pPr>
            <a:r>
              <a:rPr lang="en-US" sz="1000" b="1" dirty="0">
                <a:solidFill>
                  <a:srgbClr val="0F172A"/>
                </a:solidFill>
                <a:latin typeface="Arial" pitchFamily="34" charset="0"/>
                <a:ea typeface="Arial" pitchFamily="34" charset="-122"/>
                <a:cs typeface="Arial" pitchFamily="34" charset="-120"/>
              </a:rPr>
              <a:t>HNW Handler Readiness &amp; Technical Upskilling
</a:t>
            </a:r>
            <a:pPr indent="0" marL="0">
              <a:buNone/>
            </a:pPr>
            <a:r>
              <a:rPr lang="en-US" sz="750" dirty="0">
                <a:solidFill>
                  <a:srgbClr val="475569"/>
                </a:solidFill>
                <a:latin typeface="Arial" pitchFamily="34" charset="0"/>
                <a:ea typeface="Arial" pitchFamily="34" charset="-122"/>
                <a:cs typeface="Arial" pitchFamily="34" charset="-120"/>
              </a:rPr>
              <a:t>TxH delegation visit to Hong Kong HNW operations to deliver structured training and strengthen strategic business alignment.
</a:t>
            </a:r>
            <a:pPr indent="0" marL="0">
              <a:buNone/>
            </a:pPr>
            <a:r>
              <a:rPr lang="en-US" sz="700" dirty="0">
                <a:solidFill>
                  <a:srgbClr val="1E293B"/>
                </a:solidFill>
                <a:latin typeface="Arial" pitchFamily="34" charset="0"/>
                <a:ea typeface="Arial" pitchFamily="34" charset="-122"/>
                <a:cs typeface="Arial" pitchFamily="34" charset="-120"/>
              </a:rPr>
              <a:t>• Substantially elevate frontline handler technical mastery in complex trust arrangements, ownership changes, and collateral assignments.
</a:t>
            </a:r>
            <a:pPr indent="0" marL="0">
              <a:buNone/>
            </a:pPr>
            <a:r>
              <a:rPr lang="en-US" sz="700" dirty="0">
                <a:solidFill>
                  <a:srgbClr val="1E293B"/>
                </a:solidFill>
                <a:latin typeface="Arial" pitchFamily="34" charset="0"/>
                <a:ea typeface="Arial" pitchFamily="34" charset="-122"/>
                <a:cs typeface="Arial" pitchFamily="34" charset="-120"/>
              </a:rPr>
              <a:t>• Equip case officers with advanced legal and compliance frameworks to resolve sophisticated underwriting exceptions independently.
</a:t>
            </a:r>
            <a:pPr indent="0" marL="0">
              <a:buNone/>
            </a:pPr>
            <a:r>
              <a:rPr lang="en-US" sz="700" dirty="0">
                <a:solidFill>
                  <a:srgbClr val="1E293B"/>
                </a:solidFill>
                <a:latin typeface="Arial" pitchFamily="34" charset="0"/>
                <a:ea typeface="Arial" pitchFamily="34" charset="-122"/>
                <a:cs typeface="Arial" pitchFamily="34" charset="-120"/>
              </a:rPr>
              <a:t>• Dramatically improve service quality and turnaround time while slashing unnecessary escalations to legal and senior leadership.
</a:t>
            </a:r>
            <a:pPr indent="0" marL="0">
              <a:buNone/>
            </a:pPr>
            <a:r>
              <a:rPr lang="en-US" sz="650" i="1" dirty="0">
                <a:solidFill>
                  <a:srgbClr val="64748B"/>
                </a:solidFill>
                <a:latin typeface="Arial" pitchFamily="34" charset="0"/>
                <a:ea typeface="Arial" pitchFamily="34" charset="-122"/>
                <a:cs typeface="Arial" pitchFamily="34" charset="-120"/>
              </a:rPr>
              <a:t>Focus: TxH Training Visit · Trust &amp; Assignments · Frontline Empowerment</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CHANNEL DIVERSIFICATION
</a:t>
            </a:r>
            <a:pPr indent="0" marL="0">
              <a:buNone/>
            </a:pPr>
            <a:r>
              <a:rPr lang="en-US" sz="1000" b="1" dirty="0">
                <a:solidFill>
                  <a:srgbClr val="0F172A"/>
                </a:solidFill>
                <a:latin typeface="Arial" pitchFamily="34" charset="0"/>
                <a:ea typeface="Arial" pitchFamily="34" charset="-122"/>
                <a:cs typeface="Arial" pitchFamily="34" charset="-120"/>
              </a:rPr>
              <a:t>Expanding HNW Servicing Model to Agency
</a:t>
            </a:r>
            <a:pPr indent="0" marL="0">
              <a:buNone/>
            </a:pPr>
            <a:r>
              <a:rPr lang="en-US" sz="750" dirty="0">
                <a:solidFill>
                  <a:srgbClr val="475569"/>
                </a:solidFill>
                <a:latin typeface="Arial" pitchFamily="34" charset="0"/>
                <a:ea typeface="Arial" pitchFamily="34" charset="-122"/>
                <a:cs typeface="Arial" pitchFamily="34" charset="-120"/>
              </a:rPr>
              <a:t>Transitioning the POS HNW servicing model from brokerage and bancassurance to full agency distribution inclusion.
</a:t>
            </a:r>
            <a:pPr indent="0" marL="0">
              <a:buNone/>
            </a:pPr>
            <a:r>
              <a:rPr lang="en-US" sz="700" dirty="0">
                <a:solidFill>
                  <a:srgbClr val="1E293B"/>
                </a:solidFill>
                <a:latin typeface="Arial" pitchFamily="34" charset="0"/>
                <a:ea typeface="Arial" pitchFamily="34" charset="-122"/>
                <a:cs typeface="Arial" pitchFamily="34" charset="-120"/>
              </a:rPr>
              <a:t>• Creates high-touch operational touchpoints for premier agency leaders serving ultra-high-net-worth (UHNW) policyholders.
</a:t>
            </a:r>
            <a:pPr indent="0" marL="0">
              <a:buNone/>
            </a:pPr>
            <a:r>
              <a:rPr lang="en-US" sz="700" dirty="0">
                <a:solidFill>
                  <a:srgbClr val="1E293B"/>
                </a:solidFill>
                <a:latin typeface="Arial" pitchFamily="34" charset="0"/>
                <a:ea typeface="Arial" pitchFamily="34" charset="-122"/>
                <a:cs typeface="Arial" pitchFamily="34" charset="-120"/>
              </a:rPr>
              <a:t>• Multi-channel distribution broadens customer reach, expands revenue diversification, and democratizes bespoke servicing.
</a:t>
            </a:r>
            <a:pPr indent="0" marL="0">
              <a:buNone/>
            </a:pPr>
            <a:r>
              <a:rPr lang="en-US" sz="700" dirty="0">
                <a:solidFill>
                  <a:srgbClr val="1E293B"/>
                </a:solidFill>
                <a:latin typeface="Arial" pitchFamily="34" charset="0"/>
                <a:ea typeface="Arial" pitchFamily="34" charset="-122"/>
                <a:cs typeface="Arial" pitchFamily="34" charset="-120"/>
              </a:rPr>
              <a:t>• Provides agency clients with dedicated HNW servicing protocols, rapid SLA turnaround, and tailored documentation support.
</a:t>
            </a:r>
            <a:pPr indent="0" marL="0">
              <a:buNone/>
            </a:pPr>
            <a:r>
              <a:rPr lang="en-US" sz="650" i="1" dirty="0">
                <a:solidFill>
                  <a:srgbClr val="64748B"/>
                </a:solidFill>
                <a:latin typeface="Arial" pitchFamily="34" charset="0"/>
                <a:ea typeface="Arial" pitchFamily="34" charset="-122"/>
                <a:cs typeface="Arial" pitchFamily="34" charset="-120"/>
              </a:rPr>
              <a:t>Focus: Agency Expansion · Multi-Channel Model · Revenue Diversification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Evolution of AIA HK POS High-Net-Worth Servicing Model
</a:t>
            </a:r>
            <a:pPr indent="0" marL="0">
              <a:buNone/>
            </a:pPr>
            <a:r>
              <a:rPr lang="en-US" sz="650" dirty="0">
                <a:solidFill>
                  <a:srgbClr val="CBD5E1"/>
                </a:solidFill>
                <a:latin typeface="Arial" pitchFamily="34" charset="0"/>
                <a:ea typeface="Arial" pitchFamily="34" charset="-122"/>
                <a:cs typeface="Arial" pitchFamily="34" charset="-120"/>
              </a:rPr>
              <a:t>Channel Coverage: Confined exclusively to Brokerage &amp; Bancassurance ➔ Omnichannel: Brokerage, Bancassurance, and Premier Agency Force (Impact: Direct access for high-producing agents)   |   Case Handling Capability: Heavy reliance on senior manager / legal escalations ➔ Empowered, TxH-certified handlers using standardized trust checklists (Impact: Case turnaround time shortened by 50%)   |   Service Touchpoints: Transactional, reactive email queries ➔ Proactive end-to-end case tracking and dedicated executive support (Impact: Superior NPS among high-value clients)
</a:t>
            </a:r>
            <a:pPr indent="0" marL="0">
              <a:buNone/>
            </a:pPr>
            <a:r>
              <a:rPr lang="en-US" sz="650" b="1" dirty="0">
                <a:solidFill>
                  <a:srgbClr val="F43F5E"/>
                </a:solidFill>
                <a:latin typeface="Arial" pitchFamily="34" charset="0"/>
                <a:ea typeface="Arial" pitchFamily="34" charset="-122"/>
                <a:cs typeface="Arial" pitchFamily="34" charset="-120"/>
              </a:rPr>
              <a:t>Key Operational Value: Agency expansion creates substantial new business momentum by bringing institutional HNW servicing to top agents. · TxH training empowers frontline staff to handle intricate trusts and assignments without operational bottlenecks.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BUSINESS PARTNER   |   AIA HONG KONG POS   |   SLIDE 09/18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Business Partner: One Stop Case Resolution &amp; AI Onboarding</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Single Point of Contact Model, 3-Year Video Education, and Automated Knowledge Acceleration</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3-Year Rollout
</a:t>
            </a:r>
            <a:pPr indent="0" marL="0">
              <a:buNone/>
            </a:pPr>
            <a:r>
              <a:rPr lang="en-US" sz="750" b="1" dirty="0">
                <a:solidFill>
                  <a:srgbClr val="334155"/>
                </a:solidFill>
                <a:latin typeface="Arial" pitchFamily="34" charset="0"/>
                <a:ea typeface="Arial" pitchFamily="34" charset="-122"/>
                <a:cs typeface="Arial" pitchFamily="34" charset="-120"/>
              </a:rPr>
              <a:t>Agency Program
</a:t>
            </a:r>
            <a:pPr indent="0" marL="0">
              <a:buNone/>
            </a:pPr>
            <a:r>
              <a:rPr lang="en-US" sz="650" dirty="0">
                <a:solidFill>
                  <a:srgbClr val="64748B"/>
                </a:solidFill>
                <a:latin typeface="Arial" pitchFamily="34" charset="0"/>
                <a:ea typeface="Arial" pitchFamily="34" charset="-122"/>
                <a:cs typeface="Arial" pitchFamily="34" charset="-120"/>
              </a:rPr>
              <a:t>Bite-sized videos &amp; agency visits</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Weeks vs Mos
</a:t>
            </a:r>
            <a:pPr indent="0" marL="0">
              <a:buNone/>
            </a:pPr>
            <a:r>
              <a:rPr lang="en-US" sz="750" b="1" dirty="0">
                <a:solidFill>
                  <a:srgbClr val="334155"/>
                </a:solidFill>
                <a:latin typeface="Arial" pitchFamily="34" charset="0"/>
                <a:ea typeface="Arial" pitchFamily="34" charset="-122"/>
                <a:cs typeface="Arial" pitchFamily="34" charset="-120"/>
              </a:rPr>
              <a:t>Staff Onboarding
</a:t>
            </a:r>
            <a:pPr indent="0" marL="0">
              <a:buNone/>
            </a:pPr>
            <a:r>
              <a:rPr lang="en-US" sz="650" dirty="0">
                <a:solidFill>
                  <a:srgbClr val="64748B"/>
                </a:solidFill>
                <a:latin typeface="Arial" pitchFamily="34" charset="0"/>
                <a:ea typeface="Arial" pitchFamily="34" charset="-122"/>
                <a:cs typeface="Arial" pitchFamily="34" charset="-120"/>
              </a:rPr>
              <a:t>Accelerated by AI knowledge rules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 Dedicated BP
</a:t>
            </a:r>
            <a:pPr indent="0" marL="0">
              <a:buNone/>
            </a:pPr>
            <a:r>
              <a:rPr lang="en-US" sz="750" b="1" dirty="0">
                <a:solidFill>
                  <a:srgbClr val="334155"/>
                </a:solidFill>
                <a:latin typeface="Arial" pitchFamily="34" charset="0"/>
                <a:ea typeface="Arial" pitchFamily="34" charset="-122"/>
                <a:cs typeface="Arial" pitchFamily="34" charset="-120"/>
              </a:rPr>
              <a:t>Single POC
</a:t>
            </a:r>
            <a:pPr indent="0" marL="0">
              <a:buNone/>
            </a:pPr>
            <a:r>
              <a:rPr lang="en-US" sz="650" dirty="0">
                <a:solidFill>
                  <a:srgbClr val="64748B"/>
                </a:solidFill>
                <a:latin typeface="Arial" pitchFamily="34" charset="0"/>
                <a:ea typeface="Arial" pitchFamily="34" charset="-122"/>
                <a:cs typeface="Arial" pitchFamily="34" charset="-120"/>
              </a:rPr>
              <a:t>End-to-end customer case accountability</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Strict SoD
</a:t>
            </a:r>
            <a:pPr indent="0" marL="0">
              <a:buNone/>
            </a:pPr>
            <a:r>
              <a:rPr lang="en-US" sz="750" b="1" dirty="0">
                <a:solidFill>
                  <a:srgbClr val="334155"/>
                </a:solidFill>
                <a:latin typeface="Arial" pitchFamily="34" charset="0"/>
                <a:ea typeface="Arial" pitchFamily="34" charset="-122"/>
                <a:cs typeface="Arial" pitchFamily="34" charset="-120"/>
              </a:rPr>
              <a:t>Governance
</a:t>
            </a:r>
            <a:pPr indent="0" marL="0">
              <a:buNone/>
            </a:pPr>
            <a:r>
              <a:rPr lang="en-US" sz="650" dirty="0">
                <a:solidFill>
                  <a:srgbClr val="64748B"/>
                </a:solidFill>
                <a:latin typeface="Arial" pitchFamily="34" charset="0"/>
                <a:ea typeface="Arial" pitchFamily="34" charset="-122"/>
                <a:cs typeface="Arial" pitchFamily="34" charset="-120"/>
              </a:rPr>
              <a:t>Segregation of duties for approvals</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SINGLE POINT OF CONTACT
</a:t>
            </a:r>
            <a:pPr indent="0" marL="0">
              <a:buNone/>
            </a:pPr>
            <a:r>
              <a:rPr lang="en-US" sz="1000" b="1" dirty="0">
                <a:solidFill>
                  <a:srgbClr val="0F172A"/>
                </a:solidFill>
                <a:latin typeface="Arial" pitchFamily="34" charset="0"/>
                <a:ea typeface="Arial" pitchFamily="34" charset="-122"/>
                <a:cs typeface="Arial" pitchFamily="34" charset="-120"/>
              </a:rPr>
              <a:t>One Stop Case Resolution Strategy
</a:t>
            </a:r>
            <a:pPr indent="0" marL="0">
              <a:buNone/>
            </a:pPr>
            <a:r>
              <a:rPr lang="en-US" sz="750" dirty="0">
                <a:solidFill>
                  <a:srgbClr val="475569"/>
                </a:solidFill>
                <a:latin typeface="Arial" pitchFamily="34" charset="0"/>
                <a:ea typeface="Arial" pitchFamily="34" charset="-122"/>
                <a:cs typeface="Arial" pitchFamily="34" charset="-120"/>
              </a:rPr>
              <a:t>Assigning a dedicated Business Partner as the customer and agent single point of contact from intake to final resolution.
</a:t>
            </a:r>
            <a:pPr indent="0" marL="0">
              <a:buNone/>
            </a:pPr>
            <a:r>
              <a:rPr lang="en-US" sz="700" dirty="0">
                <a:solidFill>
                  <a:srgbClr val="1E293B"/>
                </a:solidFill>
                <a:latin typeface="Arial" pitchFamily="34" charset="0"/>
                <a:ea typeface="Arial" pitchFamily="34" charset="-122"/>
                <a:cs typeface="Arial" pitchFamily="34" charset="-120"/>
              </a:rPr>
              <a:t>• End-to-End Case Management: BP reviews requirements upfront, validates documents, manages coordination, and follows through.
</a:t>
            </a:r>
            <a:pPr indent="0" marL="0">
              <a:buNone/>
            </a:pPr>
            <a:r>
              <a:rPr lang="en-US" sz="700" dirty="0">
                <a:solidFill>
                  <a:srgbClr val="1E293B"/>
                </a:solidFill>
                <a:latin typeface="Arial" pitchFamily="34" charset="0"/>
                <a:ea typeface="Arial" pitchFamily="34" charset="-122"/>
                <a:cs typeface="Arial" pitchFamily="34" charset="-120"/>
              </a:rPr>
              <a:t>• Enhanced Customer Experience: Seamless, faster, personalized service journey with minimal handoffs and clear ownership.
</a:t>
            </a:r>
            <a:pPr indent="0" marL="0">
              <a:buNone/>
            </a:pPr>
            <a:r>
              <a:rPr lang="en-US" sz="700" dirty="0">
                <a:solidFill>
                  <a:srgbClr val="1E293B"/>
                </a:solidFill>
                <a:latin typeface="Arial" pitchFamily="34" charset="0"/>
                <a:ea typeface="Arial" pitchFamily="34" charset="-122"/>
                <a:cs typeface="Arial" pitchFamily="34" charset="-120"/>
              </a:rPr>
              <a:t>• Risk-Based Governance Controls: Preserves strict segregation of duties (SoD) for approvals, payment releases, and ownership changes.
</a:t>
            </a:r>
            <a:pPr indent="0" marL="0">
              <a:buNone/>
            </a:pPr>
            <a:r>
              <a:rPr lang="en-US" sz="650" i="1" dirty="0">
                <a:solidFill>
                  <a:srgbClr val="64748B"/>
                </a:solidFill>
                <a:latin typeface="Arial" pitchFamily="34" charset="0"/>
                <a:ea typeface="Arial" pitchFamily="34" charset="-122"/>
                <a:cs typeface="Arial" pitchFamily="34" charset="-120"/>
              </a:rPr>
              <a:t>Focus: Single Point of Contact · End-to-End Ownership · Segregation of Duties</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KNOWLEDGE ACCELERATION
</a:t>
            </a:r>
            <a:pPr indent="0" marL="0">
              <a:buNone/>
            </a:pPr>
            <a:r>
              <a:rPr lang="en-US" sz="1000" b="1" dirty="0">
                <a:solidFill>
                  <a:srgbClr val="0F172A"/>
                </a:solidFill>
                <a:latin typeface="Arial" pitchFamily="34" charset="0"/>
                <a:ea typeface="Arial" pitchFamily="34" charset="-122"/>
                <a:cs typeface="Arial" pitchFamily="34" charset="-120"/>
              </a:rPr>
              <a:t>Agency Education &amp; AI-Powered Onboarding
</a:t>
            </a:r>
            <a:pPr indent="0" marL="0">
              <a:buNone/>
            </a:pPr>
            <a:r>
              <a:rPr lang="en-US" sz="750" dirty="0">
                <a:solidFill>
                  <a:srgbClr val="475569"/>
                </a:solidFill>
                <a:latin typeface="Arial" pitchFamily="34" charset="0"/>
                <a:ea typeface="Arial" pitchFamily="34" charset="-122"/>
                <a:cs typeface="Arial" pitchFamily="34" charset="-120"/>
              </a:rPr>
              <a:t>Comprehensive 3-year agency support initiative combined with an AI learning assistant for incoming POS staff.
</a:t>
            </a:r>
            <a:pPr indent="0" marL="0">
              <a:buNone/>
            </a:pPr>
            <a:r>
              <a:rPr lang="en-US" sz="700" dirty="0">
                <a:solidFill>
                  <a:srgbClr val="1E293B"/>
                </a:solidFill>
                <a:latin typeface="Arial" pitchFamily="34" charset="0"/>
                <a:ea typeface="Arial" pitchFamily="34" charset="-122"/>
                <a:cs typeface="Arial" pitchFamily="34" charset="-120"/>
              </a:rPr>
              <a:t>• Rollout of bite-sized video tutorials and in-person agency branch visits focusing on first-time-right submissions.
</a:t>
            </a:r>
            <a:pPr indent="0" marL="0">
              <a:buNone/>
            </a:pPr>
            <a:r>
              <a:rPr lang="en-US" sz="700" dirty="0">
                <a:solidFill>
                  <a:srgbClr val="1E293B"/>
                </a:solidFill>
                <a:latin typeface="Arial" pitchFamily="34" charset="0"/>
                <a:ea typeface="Arial" pitchFamily="34" charset="-122"/>
                <a:cs typeface="Arial" pitchFamily="34" charset="-120"/>
              </a:rPr>
              <a:t>• AI-powered learning assistant for new POS staff onboarding, codifying decades of operational rules and industry background.
</a:t>
            </a:r>
            <a:pPr indent="0" marL="0">
              <a:buNone/>
            </a:pPr>
            <a:r>
              <a:rPr lang="en-US" sz="700" dirty="0">
                <a:solidFill>
                  <a:srgbClr val="1E293B"/>
                </a:solidFill>
                <a:latin typeface="Arial" pitchFamily="34" charset="0"/>
                <a:ea typeface="Arial" pitchFamily="34" charset="-122"/>
                <a:cs typeface="Arial" pitchFamily="34" charset="-120"/>
              </a:rPr>
              <a:t>• Accelerates new hire ramp-up time from months to weeks, ensuring immediate processing accuracy and high confidence.
</a:t>
            </a:r>
            <a:pPr indent="0" marL="0">
              <a:buNone/>
            </a:pPr>
            <a:r>
              <a:rPr lang="en-US" sz="650" i="1" dirty="0">
                <a:solidFill>
                  <a:srgbClr val="64748B"/>
                </a:solidFill>
                <a:latin typeface="Arial" pitchFamily="34" charset="0"/>
                <a:ea typeface="Arial" pitchFamily="34" charset="-122"/>
                <a:cs typeface="Arial" pitchFamily="34" charset="-120"/>
              </a:rPr>
              <a:t>Focus: 3-Year Video Guides · AI Learning Assistant · First-Time-Right</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One Stop Case Resolution Lifecycle with Built-In Segregation of Duties
</a:t>
            </a:r>
            <a:pPr indent="0" marL="0">
              <a:buNone/>
            </a:pPr>
            <a:r>
              <a:rPr lang="en-US" sz="650" dirty="0">
                <a:solidFill>
                  <a:srgbClr val="CBD5E1"/>
                </a:solidFill>
                <a:latin typeface="Arial" pitchFamily="34" charset="0"/>
                <a:ea typeface="Arial" pitchFamily="34" charset="-122"/>
                <a:cs typeface="Arial" pitchFamily="34" charset="-120"/>
              </a:rPr>
              <a:t>[01] Request Intake (Dedicated Business Partner): Single point of contact receives request, verifies completeness upfront   |   [02] Document Validation (Dedicated Business Partner): Validates all identity, medical, or legal documents; prevents avoidable pending   |   [03] Processing Coordination (POS Specialist Pod): Coordinates system updates across core policy administration ledgers   |   [04] Segregated Approval (Independent Approver (SoD)): Risk check &amp; independent release approval for financial/ownership changes   |   [05] Customer Resolution (Dedicated Business Partner): Single POC communicates completion directly to agent &amp; customer
</a:t>
            </a:r>
            <a:pPr indent="0" marL="0">
              <a:buNone/>
            </a:pPr>
            <a:r>
              <a:rPr lang="en-US" sz="650" b="1" dirty="0">
                <a:solidFill>
                  <a:srgbClr val="F43F5E"/>
                </a:solidFill>
                <a:latin typeface="Arial" pitchFamily="34" charset="0"/>
                <a:ea typeface="Arial" pitchFamily="34" charset="-122"/>
                <a:cs typeface="Arial" pitchFamily="34" charset="-120"/>
              </a:rPr>
              <a:t>Key Operational Value: The Business Partner acts as the single quarterback for the case, shielding the customer from internal handoffs. · AI-powered learning assistants ensure rapid staff readiness, preventing knowledge loss and operational errors.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CASHIER &amp; PAYMENT   |   AIA HONG KONG POS   |   SLIDE 10/18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Cashier Priority: 24/7 Virtual Cashier (CDM Kiosk) Feasibility</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Evaluating Multi-Method Self-Service Terminals to Expand After-Hours Servicing and Lower Counter Footprint</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24/7
</a:t>
            </a:r>
            <a:pPr indent="0" marL="0">
              <a:buNone/>
            </a:pPr>
            <a:r>
              <a:rPr lang="en-US" sz="750" b="1" dirty="0">
                <a:solidFill>
                  <a:srgbClr val="334155"/>
                </a:solidFill>
                <a:latin typeface="Arial" pitchFamily="34" charset="0"/>
                <a:ea typeface="Arial" pitchFamily="34" charset="-122"/>
                <a:cs typeface="Arial" pitchFamily="34" charset="-120"/>
              </a:rPr>
              <a:t>Operating Window
</a:t>
            </a:r>
            <a:pPr indent="0" marL="0">
              <a:buNone/>
            </a:pPr>
            <a:r>
              <a:rPr lang="en-US" sz="650" dirty="0">
                <a:solidFill>
                  <a:srgbClr val="64748B"/>
                </a:solidFill>
                <a:latin typeface="Arial" pitchFamily="34" charset="0"/>
                <a:ea typeface="Arial" pitchFamily="34" charset="-122"/>
                <a:cs typeface="Arial" pitchFamily="34" charset="-120"/>
              </a:rPr>
              <a:t>Unrestricted round-the-clock access</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4 Modes
</a:t>
            </a:r>
            <a:pPr indent="0" marL="0">
              <a:buNone/>
            </a:pPr>
            <a:r>
              <a:rPr lang="en-US" sz="750" b="1" dirty="0">
                <a:solidFill>
                  <a:srgbClr val="334155"/>
                </a:solidFill>
                <a:latin typeface="Arial" pitchFamily="34" charset="0"/>
                <a:ea typeface="Arial" pitchFamily="34" charset="-122"/>
                <a:cs typeface="Arial" pitchFamily="34" charset="-120"/>
              </a:rPr>
              <a:t>Payment Types
</a:t>
            </a:r>
            <a:pPr indent="0" marL="0">
              <a:buNone/>
            </a:pPr>
            <a:r>
              <a:rPr lang="en-US" sz="650" dirty="0">
                <a:solidFill>
                  <a:srgbClr val="64748B"/>
                </a:solidFill>
                <a:latin typeface="Arial" pitchFamily="34" charset="0"/>
                <a:ea typeface="Arial" pitchFamily="34" charset="-122"/>
                <a:cs typeface="Arial" pitchFamily="34" charset="-120"/>
              </a:rPr>
              <a:t>Cash · Cheque · Credit Cards · e-Pay</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Automated
</a:t>
            </a:r>
            <a:pPr indent="0" marL="0">
              <a:buNone/>
            </a:pPr>
            <a:r>
              <a:rPr lang="en-US" sz="750" b="1" dirty="0">
                <a:solidFill>
                  <a:srgbClr val="334155"/>
                </a:solidFill>
                <a:latin typeface="Arial" pitchFamily="34" charset="0"/>
                <a:ea typeface="Arial" pitchFamily="34" charset="-122"/>
                <a:cs typeface="Arial" pitchFamily="34" charset="-120"/>
              </a:rPr>
              <a:t>Payor Verification
</a:t>
            </a:r>
            <a:pPr indent="0" marL="0">
              <a:buNone/>
            </a:pPr>
            <a:r>
              <a:rPr lang="en-US" sz="650" dirty="0">
                <a:solidFill>
                  <a:srgbClr val="64748B"/>
                </a:solidFill>
                <a:latin typeface="Arial" pitchFamily="34" charset="0"/>
                <a:ea typeface="Arial" pitchFamily="34" charset="-122"/>
                <a:cs typeface="Arial" pitchFamily="34" charset="-120"/>
              </a:rPr>
              <a:t>Authorized payor policy check</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ROI Feasibility
</a:t>
            </a:r>
            <a:pPr indent="0" marL="0">
              <a:buNone/>
            </a:pPr>
            <a:r>
              <a:rPr lang="en-US" sz="750" b="1" dirty="0">
                <a:solidFill>
                  <a:srgbClr val="334155"/>
                </a:solidFill>
                <a:latin typeface="Arial" pitchFamily="34" charset="0"/>
                <a:ea typeface="Arial" pitchFamily="34" charset="-122"/>
                <a:cs typeface="Arial" pitchFamily="34" charset="-120"/>
              </a:rPr>
              <a:t>Evaluation Stage
</a:t>
            </a:r>
            <a:pPr indent="0" marL="0">
              <a:buNone/>
            </a:pPr>
            <a:r>
              <a:rPr lang="en-US" sz="650" dirty="0">
                <a:solidFill>
                  <a:srgbClr val="64748B"/>
                </a:solidFill>
                <a:latin typeface="Arial" pitchFamily="34" charset="0"/>
                <a:ea typeface="Arial" pitchFamily="34" charset="-122"/>
                <a:cs typeface="Arial" pitchFamily="34" charset="-120"/>
              </a:rPr>
              <a:t>Hardware · Security · Maintenance</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SELF-SERVICE TERMINAL
</a:t>
            </a:r>
            <a:pPr indent="0" marL="0">
              <a:buNone/>
            </a:pPr>
            <a:r>
              <a:rPr lang="en-US" sz="1000" b="1" dirty="0">
                <a:solidFill>
                  <a:srgbClr val="0F172A"/>
                </a:solidFill>
                <a:latin typeface="Arial" pitchFamily="34" charset="0"/>
                <a:ea typeface="Arial" pitchFamily="34" charset="-122"/>
                <a:cs typeface="Arial" pitchFamily="34" charset="-120"/>
              </a:rPr>
              <a:t>Virtual Cashier Concept &amp; Capabilities
</a:t>
            </a:r>
            <a:pPr indent="0" marL="0">
              <a:buNone/>
            </a:pPr>
            <a:r>
              <a:rPr lang="en-US" sz="750" dirty="0">
                <a:solidFill>
                  <a:srgbClr val="475569"/>
                </a:solidFill>
                <a:latin typeface="Arial" pitchFamily="34" charset="0"/>
                <a:ea typeface="Arial" pitchFamily="34" charset="-122"/>
                <a:cs typeface="Arial" pitchFamily="34" charset="-120"/>
              </a:rPr>
              <a:t>Feasibility study for a 24/7 automated Cash Deposit Machine (CDM) kiosk to handle routine customer premium settlements.
</a:t>
            </a:r>
            <a:pPr indent="0" marL="0">
              <a:buNone/>
            </a:pPr>
            <a:r>
              <a:rPr lang="en-US" sz="700" dirty="0">
                <a:solidFill>
                  <a:srgbClr val="1E293B"/>
                </a:solidFill>
                <a:latin typeface="Arial" pitchFamily="34" charset="0"/>
                <a:ea typeface="Arial" pitchFamily="34" charset="-122"/>
                <a:cs typeface="Arial" pitchFamily="34" charset="-120"/>
              </a:rPr>
              <a:t>• 24/7 self-service terminal capable of real-time validation of authorized payors for specific life and wealth policies.
</a:t>
            </a:r>
            <a:pPr indent="0" marL="0">
              <a:buNone/>
            </a:pPr>
            <a:r>
              <a:rPr lang="en-US" sz="700" dirty="0">
                <a:solidFill>
                  <a:srgbClr val="1E293B"/>
                </a:solidFill>
                <a:latin typeface="Arial" pitchFamily="34" charset="0"/>
                <a:ea typeface="Arial" pitchFamily="34" charset="-122"/>
                <a:cs typeface="Arial" pitchFamily="34" charset="-120"/>
              </a:rPr>
              <a:t>• Multi-method payment acceptance: High-capacity cash recycler, automated cheque scanner, credit card EMV, and e-wallets.
</a:t>
            </a:r>
            <a:pPr indent="0" marL="0">
              <a:buNone/>
            </a:pPr>
            <a:r>
              <a:rPr lang="en-US" sz="700" dirty="0">
                <a:solidFill>
                  <a:srgbClr val="1E293B"/>
                </a:solidFill>
                <a:latin typeface="Arial" pitchFamily="34" charset="0"/>
                <a:ea typeface="Arial" pitchFamily="34" charset="-122"/>
                <a:cs typeface="Arial" pitchFamily="34" charset="-120"/>
              </a:rPr>
              <a:t>• Direct integration with core cashiering ledger for real-time receipt generation and instant policy premium crediting.
</a:t>
            </a:r>
            <a:pPr indent="0" marL="0">
              <a:buNone/>
            </a:pPr>
            <a:r>
              <a:rPr lang="en-US" sz="650" i="1" dirty="0">
                <a:solidFill>
                  <a:srgbClr val="64748B"/>
                </a:solidFill>
                <a:latin typeface="Arial" pitchFamily="34" charset="0"/>
                <a:ea typeface="Arial" pitchFamily="34" charset="-122"/>
                <a:cs typeface="Arial" pitchFamily="34" charset="-120"/>
              </a:rPr>
              <a:t>Focus: 24/7 Terminal · Multi-Method Payment · Real-Time Crediting</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BUSINESS CASE RIGOR
</a:t>
            </a:r>
            <a:pPr indent="0" marL="0">
              <a:buNone/>
            </a:pPr>
            <a:r>
              <a:rPr lang="en-US" sz="1000" b="1" dirty="0">
                <a:solidFill>
                  <a:srgbClr val="0F172A"/>
                </a:solidFill>
                <a:latin typeface="Arial" pitchFamily="34" charset="0"/>
                <a:ea typeface="Arial" pitchFamily="34" charset="-122"/>
                <a:cs typeface="Arial" pitchFamily="34" charset="-120"/>
              </a:rPr>
              <a:t>Rigorous Feasibility &amp; ROI Evaluation
</a:t>
            </a:r>
            <a:pPr indent="0" marL="0">
              <a:buNone/>
            </a:pPr>
            <a:r>
              <a:rPr lang="en-US" sz="750" dirty="0">
                <a:solidFill>
                  <a:srgbClr val="475569"/>
                </a:solidFill>
                <a:latin typeface="Arial" pitchFamily="34" charset="0"/>
                <a:ea typeface="Arial" pitchFamily="34" charset="-122"/>
                <a:cs typeface="Arial" pitchFamily="34" charset="-120"/>
              </a:rPr>
              <a:t>Comprehensive cost-benefit analysis evaluating initial hardware acquisition against long-term counter operational savings.
</a:t>
            </a:r>
            <a:pPr indent="0" marL="0">
              <a:buNone/>
            </a:pPr>
            <a:r>
              <a:rPr lang="en-US" sz="700" dirty="0">
                <a:solidFill>
                  <a:srgbClr val="1E293B"/>
                </a:solidFill>
                <a:latin typeface="Arial" pitchFamily="34" charset="0"/>
                <a:ea typeface="Arial" pitchFamily="34" charset="-122"/>
                <a:cs typeface="Arial" pitchFamily="34" charset="-120"/>
              </a:rPr>
              <a:t>• Detailed assessment of physical hardware procurement, armored cash collection logistics, and tamper-proof security measures.
</a:t>
            </a:r>
            <a:pPr indent="0" marL="0">
              <a:buNone/>
            </a:pPr>
            <a:r>
              <a:rPr lang="en-US" sz="700" dirty="0">
                <a:solidFill>
                  <a:srgbClr val="1E293B"/>
                </a:solidFill>
                <a:latin typeface="Arial" pitchFamily="34" charset="0"/>
                <a:ea typeface="Arial" pitchFamily="34" charset="-122"/>
                <a:cs typeface="Arial" pitchFamily="34" charset="-120"/>
              </a:rPr>
              <a:t>• Ongoing software maintenance, telecom redundancy, and AML compliance monitoring costs factored into net present value.
</a:t>
            </a:r>
            <a:pPr indent="0" marL="0">
              <a:buNone/>
            </a:pPr>
            <a:r>
              <a:rPr lang="en-US" sz="700" dirty="0">
                <a:solidFill>
                  <a:srgbClr val="1E293B"/>
                </a:solidFill>
                <a:latin typeface="Arial" pitchFamily="34" charset="0"/>
                <a:ea typeface="Arial" pitchFamily="34" charset="-122"/>
                <a:cs typeface="Arial" pitchFamily="34" charset="-120"/>
              </a:rPr>
              <a:t>• Clear ROI gate: Full rollout contingent on demonstrated branch counter queue reduction and customer adoption metrics.
</a:t>
            </a:r>
            <a:pPr indent="0" marL="0">
              <a:buNone/>
            </a:pPr>
            <a:r>
              <a:rPr lang="en-US" sz="650" i="1" dirty="0">
                <a:solidFill>
                  <a:srgbClr val="64748B"/>
                </a:solidFill>
                <a:latin typeface="Arial" pitchFamily="34" charset="0"/>
                <a:ea typeface="Arial" pitchFamily="34" charset="-122"/>
                <a:cs typeface="Arial" pitchFamily="34" charset="-120"/>
              </a:rPr>
              <a:t>Focus: Cost-Benefit ROI · Security Architecture · Branch Optimization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24/7 Virtual Cashier Terminal Customer Interaction &amp; Validation Flow
</a:t>
            </a:r>
            <a:pPr indent="0" marL="0">
              <a:buNone/>
            </a:pPr>
            <a:r>
              <a:rPr lang="en-US" sz="650" dirty="0">
                <a:solidFill>
                  <a:srgbClr val="CBD5E1"/>
                </a:solidFill>
                <a:latin typeface="Arial" pitchFamily="34" charset="0"/>
                <a:ea typeface="Arial" pitchFamily="34" charset="-122"/>
                <a:cs typeface="Arial" pitchFamily="34" charset="-120"/>
              </a:rPr>
              <a:t>[01] Policy Identification (Customer): Customer scans policy QR code or inputs policy number at terminal   |   [02] Authorized Payor Check (Cashier Rule Engine): Terminal validates payor relationship against AML &amp; policy owner rules   |   [03] Multi-Method Tender (Hardware Recycler): Customer deposits cash notes, drops cheque, or taps contactless credit card   |   [04] Instant Ledger Receipt (Core Financial Ledger): Receipt printed / SMS sent; premium credited instantly to policy account
</a:t>
            </a:r>
            <a:pPr indent="0" marL="0">
              <a:buNone/>
            </a:pPr>
            <a:r>
              <a:rPr lang="en-US" sz="650" b="1" dirty="0">
                <a:solidFill>
                  <a:srgbClr val="F43F5E"/>
                </a:solidFill>
                <a:latin typeface="Arial" pitchFamily="34" charset="0"/>
                <a:ea typeface="Arial" pitchFamily="34" charset="-122"/>
                <a:cs typeface="Arial" pitchFamily="34" charset="-120"/>
              </a:rPr>
              <a:t>Key Operational Value: The Virtual Cashier delivers 24/7 premium settlement flexibility for customers outside traditional branch banking hours. · Rigorous ROI feasibility ensures capital is deployed effectively, balancing hardware costs against physical counter savings.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CASHIER &amp; PAYMENT   |   AIA HONG KONG POS   |   SLIDE 11/18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Payment Solutions: Stablecoin Exploration &amp; Accelerated Autopay</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Exploring Digital Asset Premiums while Shortening End-to-End Autopay Setup from 2 Months to 2 Weeks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 Weeks
</a:t>
            </a:r>
            <a:pPr indent="0" marL="0">
              <a:buNone/>
            </a:pPr>
            <a:r>
              <a:rPr lang="en-US" sz="750" b="1" dirty="0">
                <a:solidFill>
                  <a:srgbClr val="334155"/>
                </a:solidFill>
                <a:latin typeface="Arial" pitchFamily="34" charset="0"/>
                <a:ea typeface="Arial" pitchFamily="34" charset="-122"/>
                <a:cs typeface="Arial" pitchFamily="34" charset="-120"/>
              </a:rPr>
              <a:t>Autopay Setup
</a:t>
            </a:r>
            <a:pPr indent="0" marL="0">
              <a:buNone/>
            </a:pPr>
            <a:r>
              <a:rPr lang="en-US" sz="650" dirty="0">
                <a:solidFill>
                  <a:srgbClr val="64748B"/>
                </a:solidFill>
                <a:latin typeface="Arial" pitchFamily="34" charset="0"/>
                <a:ea typeface="Arial" pitchFamily="34" charset="-122"/>
                <a:cs typeface="Arial" pitchFamily="34" charset="-120"/>
              </a:rPr>
              <a:t>Down from ~2 months (-75% TAT)</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CitiDirect &amp; FPS
</a:t>
            </a:r>
            <a:pPr indent="0" marL="0">
              <a:buNone/>
            </a:pPr>
            <a:r>
              <a:rPr lang="en-US" sz="750" b="1" dirty="0">
                <a:solidFill>
                  <a:srgbClr val="334155"/>
                </a:solidFill>
                <a:latin typeface="Arial" pitchFamily="34" charset="0"/>
                <a:ea typeface="Arial" pitchFamily="34" charset="-122"/>
                <a:cs typeface="Arial" pitchFamily="34" charset="-120"/>
              </a:rPr>
              <a:t>Partner Rails
</a:t>
            </a:r>
            <a:pPr indent="0" marL="0">
              <a:buNone/>
            </a:pPr>
            <a:r>
              <a:rPr lang="en-US" sz="650" dirty="0">
                <a:solidFill>
                  <a:srgbClr val="64748B"/>
                </a:solidFill>
                <a:latin typeface="Arial" pitchFamily="34" charset="0"/>
                <a:ea typeface="Arial" pitchFamily="34" charset="-122"/>
                <a:cs typeface="Arial" pitchFamily="34" charset="-120"/>
              </a:rPr>
              <a:t>Direct Debit Mandate modernization</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Bank Engaged
</a:t>
            </a:r>
            <a:pPr indent="0" marL="0">
              <a:buNone/>
            </a:pPr>
            <a:r>
              <a:rPr lang="en-US" sz="750" b="1" dirty="0">
                <a:solidFill>
                  <a:srgbClr val="334155"/>
                </a:solidFill>
                <a:latin typeface="Arial" pitchFamily="34" charset="0"/>
                <a:ea typeface="Arial" pitchFamily="34" charset="-122"/>
                <a:cs typeface="Arial" pitchFamily="34" charset="-120"/>
              </a:rPr>
              <a:t>Stablecoin Status
</a:t>
            </a:r>
            <a:pPr indent="0" marL="0">
              <a:buNone/>
            </a:pPr>
            <a:r>
              <a:rPr lang="en-US" sz="650" dirty="0">
                <a:solidFill>
                  <a:srgbClr val="64748B"/>
                </a:solidFill>
                <a:latin typeface="Arial" pitchFamily="34" charset="0"/>
                <a:ea typeface="Arial" pitchFamily="34" charset="-122"/>
                <a:cs typeface="Arial" pitchFamily="34" charset="-120"/>
              </a:rPr>
              <a:t>Pending regulatory &amp; industry review</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2027
</a:t>
            </a:r>
            <a:pPr indent="0" marL="0">
              <a:buNone/>
            </a:pPr>
            <a:r>
              <a:rPr lang="en-US" sz="750" b="1" dirty="0">
                <a:solidFill>
                  <a:srgbClr val="334155"/>
                </a:solidFill>
                <a:latin typeface="Arial" pitchFamily="34" charset="0"/>
                <a:ea typeface="Arial" pitchFamily="34" charset="-122"/>
                <a:cs typeface="Arial" pitchFamily="34" charset="-120"/>
              </a:rPr>
              <a:t>Target Go-Live
</a:t>
            </a:r>
            <a:pPr indent="0" marL="0">
              <a:buNone/>
            </a:pPr>
            <a:r>
              <a:rPr lang="en-US" sz="650" dirty="0">
                <a:solidFill>
                  <a:srgbClr val="64748B"/>
                </a:solidFill>
                <a:latin typeface="Arial" pitchFamily="34" charset="0"/>
                <a:ea typeface="Arial" pitchFamily="34" charset="-122"/>
                <a:cs typeface="Arial" pitchFamily="34" charset="-120"/>
              </a:rPr>
              <a:t>In-progress operational delivery</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CUSTOMER JOURNEY OVERHAUL
</a:t>
            </a:r>
            <a:pPr indent="0" marL="0">
              <a:buNone/>
            </a:pPr>
            <a:r>
              <a:rPr lang="en-US" sz="1000" b="1" dirty="0">
                <a:solidFill>
                  <a:srgbClr val="0F172A"/>
                </a:solidFill>
                <a:latin typeface="Arial" pitchFamily="34" charset="0"/>
                <a:ea typeface="Arial" pitchFamily="34" charset="-122"/>
                <a:cs typeface="Arial" pitchFamily="34" charset="-120"/>
              </a:rPr>
              <a:t>Accelerate Autopay Customer Journey (Target 2027)
</a:t>
            </a:r>
            <a:pPr indent="0" marL="0">
              <a:buNone/>
            </a:pPr>
            <a:r>
              <a:rPr lang="en-US" sz="750" dirty="0">
                <a:solidFill>
                  <a:srgbClr val="475569"/>
                </a:solidFill>
                <a:latin typeface="Arial" pitchFamily="34" charset="0"/>
                <a:ea typeface="Arial" pitchFamily="34" charset="-122"/>
                <a:cs typeface="Arial" pitchFamily="34" charset="-120"/>
              </a:rPr>
              <a:t>Modernizing Direct Debit Mandate (DDM) processing via CitiDirect and FPS-enabled digital setup in partnership with our bank.
</a:t>
            </a:r>
            <a:pPr indent="0" marL="0">
              <a:buNone/>
            </a:pPr>
            <a:r>
              <a:rPr lang="en-US" sz="700" dirty="0">
                <a:solidFill>
                  <a:srgbClr val="1E293B"/>
                </a:solidFill>
                <a:latin typeface="Arial" pitchFamily="34" charset="0"/>
                <a:ea typeface="Arial" pitchFamily="34" charset="-122"/>
                <a:cs typeface="Arial" pitchFamily="34" charset="-120"/>
              </a:rPr>
              <a:t>• Shortens end-to-end Autopay mandate setup from historical ~2 months down to ~2 weeks, dramatically improving customer satisfaction.
</a:t>
            </a:r>
            <a:pPr indent="0" marL="0">
              <a:buNone/>
            </a:pPr>
            <a:r>
              <a:rPr lang="en-US" sz="700" dirty="0">
                <a:solidFill>
                  <a:srgbClr val="1E293B"/>
                </a:solidFill>
                <a:latin typeface="Arial" pitchFamily="34" charset="0"/>
                <a:ea typeface="Arial" pitchFamily="34" charset="-122"/>
                <a:cs typeface="Arial" pitchFamily="34" charset="-120"/>
              </a:rPr>
              <a:t>• Provides real-time visibility into mandate approvals, bank rejections, and pending exception resolution.
</a:t>
            </a:r>
            <a:pPr indent="0" marL="0">
              <a:buNone/>
            </a:pPr>
            <a:r>
              <a:rPr lang="en-US" sz="700" dirty="0">
                <a:solidFill>
                  <a:srgbClr val="1E293B"/>
                </a:solidFill>
                <a:latin typeface="Arial" pitchFamily="34" charset="0"/>
                <a:ea typeface="Arial" pitchFamily="34" charset="-122"/>
                <a:cs typeface="Arial" pitchFamily="34" charset="-120"/>
              </a:rPr>
              <a:t>• Empowers operations to execute immediate customer follow-ups upon bank return, preventing policy lapsation.
</a:t>
            </a:r>
            <a:pPr indent="0" marL="0">
              <a:buNone/>
            </a:pPr>
            <a:r>
              <a:rPr lang="en-US" sz="650" i="1" dirty="0">
                <a:solidFill>
                  <a:srgbClr val="64748B"/>
                </a:solidFill>
                <a:latin typeface="Arial" pitchFamily="34" charset="0"/>
                <a:ea typeface="Arial" pitchFamily="34" charset="-122"/>
                <a:cs typeface="Arial" pitchFamily="34" charset="-120"/>
              </a:rPr>
              <a:t>Focus: CitiDirect &amp; FPS · 2-Week Turnaround · Mandate Transparency</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NEXT-GEN CURRENCY RAIL
</a:t>
            </a:r>
            <a:pPr indent="0" marL="0">
              <a:buNone/>
            </a:pPr>
            <a:r>
              <a:rPr lang="en-US" sz="1000" b="1" dirty="0">
                <a:solidFill>
                  <a:srgbClr val="0F172A"/>
                </a:solidFill>
                <a:latin typeface="Arial" pitchFamily="34" charset="0"/>
                <a:ea typeface="Arial" pitchFamily="34" charset="-122"/>
                <a:cs typeface="Arial" pitchFamily="34" charset="-120"/>
              </a:rPr>
              <a:t>Stablecoin as Premium Payment Currency
</a:t>
            </a:r>
            <a:pPr indent="0" marL="0">
              <a:buNone/>
            </a:pPr>
            <a:r>
              <a:rPr lang="en-US" sz="750" dirty="0">
                <a:solidFill>
                  <a:srgbClr val="475569"/>
                </a:solidFill>
                <a:latin typeface="Arial" pitchFamily="34" charset="0"/>
                <a:ea typeface="Arial" pitchFamily="34" charset="-122"/>
                <a:cs typeface="Arial" pitchFamily="34" charset="-120"/>
              </a:rPr>
              <a:t>Exploring stablecoin settlement for premium payments in close consultation with banking partners and industry regulators.
</a:t>
            </a:r>
            <a:pPr indent="0" marL="0">
              <a:buNone/>
            </a:pPr>
            <a:r>
              <a:rPr lang="en-US" sz="700" dirty="0">
                <a:solidFill>
                  <a:srgbClr val="1E293B"/>
                </a:solidFill>
                <a:latin typeface="Arial" pitchFamily="34" charset="0"/>
                <a:ea typeface="Arial" pitchFamily="34" charset="-122"/>
                <a:cs typeface="Arial" pitchFamily="34" charset="-120"/>
              </a:rPr>
              <a:t>• Actively engaged by leading tier-1 partner banks to evaluate stablecoin settlement architectures and liquidity rails.
</a:t>
            </a:r>
            <a:pPr indent="0" marL="0">
              <a:buNone/>
            </a:pPr>
            <a:r>
              <a:rPr lang="en-US" sz="700" dirty="0">
                <a:solidFill>
                  <a:srgbClr val="1E293B"/>
                </a:solidFill>
                <a:latin typeface="Arial" pitchFamily="34" charset="0"/>
                <a:ea typeface="Arial" pitchFamily="34" charset="-122"/>
                <a:cs typeface="Arial" pitchFamily="34" charset="-120"/>
              </a:rPr>
              <a:t>• Subject to forthcoming Hong Kong regulatory sandbox approvals and financial industry consensus guidelines.
</a:t>
            </a:r>
            <a:pPr indent="0" marL="0">
              <a:buNone/>
            </a:pPr>
            <a:r>
              <a:rPr lang="en-US" sz="700" dirty="0">
                <a:solidFill>
                  <a:srgbClr val="1E293B"/>
                </a:solidFill>
                <a:latin typeface="Arial" pitchFamily="34" charset="0"/>
                <a:ea typeface="Arial" pitchFamily="34" charset="-122"/>
                <a:cs typeface="Arial" pitchFamily="34" charset="-120"/>
              </a:rPr>
              <a:t>• Positions AIA Hong Kong at the forefront of digital asset wealth management and international currency flexibility.
</a:t>
            </a:r>
            <a:pPr indent="0" marL="0">
              <a:buNone/>
            </a:pPr>
            <a:r>
              <a:rPr lang="en-US" sz="650" i="1" dirty="0">
                <a:solidFill>
                  <a:srgbClr val="64748B"/>
                </a:solidFill>
                <a:latin typeface="Arial" pitchFamily="34" charset="0"/>
                <a:ea typeface="Arial" pitchFamily="34" charset="-122"/>
                <a:cs typeface="Arial" pitchFamily="34" charset="-120"/>
              </a:rPr>
              <a:t>Focus: Stablecoin Rail · Tier-1 Bank Engaged · Regulatory Sandbox</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Direct Debit Mandate (Autopay) Journey: Legacy vs. CitiDirect + FPS Rail
</a:t>
            </a:r>
            <a:pPr indent="0" marL="0">
              <a:buNone/>
            </a:pPr>
            <a:r>
              <a:rPr lang="en-US" sz="650" dirty="0">
                <a:solidFill>
                  <a:srgbClr val="CBD5E1"/>
                </a:solidFill>
                <a:latin typeface="Arial" pitchFamily="34" charset="0"/>
                <a:ea typeface="Arial" pitchFamily="34" charset="-122"/>
                <a:cs typeface="Arial" pitchFamily="34" charset="-120"/>
              </a:rPr>
              <a:t>Turnaround Time: 6–8 weeks (~2 months) via paper mandate circulation ➔ ~2 weeks via CitiDirect &amp; FPS electronic verification (Impact: 75% reduction in customer waiting time)   |   Rejection Visibility: Delayed monthly paper return reports from clearing house ➔ Near real-time rejection alerts with explicit failure codes (Impact: Immediate customer outreach before next billing)   |   Customer Experience: Multiple paper form re-submissions due to signature mismatches ➔ Frictionless digital bank account mandate binding (Impact: Significant reduction in mandate fallout)
</a:t>
            </a:r>
            <a:pPr indent="0" marL="0">
              <a:buNone/>
            </a:pPr>
            <a:r>
              <a:rPr lang="en-US" sz="650" b="1" dirty="0">
                <a:solidFill>
                  <a:srgbClr val="F43F5E"/>
                </a:solidFill>
                <a:latin typeface="Arial" pitchFamily="34" charset="0"/>
                <a:ea typeface="Arial" pitchFamily="34" charset="-122"/>
                <a:cs typeface="Arial" pitchFamily="34" charset="-120"/>
              </a:rPr>
              <a:t>Key Operational Value: Compressing Autopay setup from 2 months to 2 weeks eliminates a major customer pain point and reduces policy lapse risk. · Stablecoin engagement ensures AIA remains ahead of digital asset developments in the Hong Kong financial ecosystem.</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02 · CASHIER &amp; PAYMENT   |   AIA HONG KONG POS   |   SLIDE 12/18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Payment Continuity: Project Bamboo &amp; Strengthened AML Controls</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Safeguarding AIAE-to-AIAI Portfolio Transfer and Hardening Bank-Draft Monitoring Rails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2027
</a:t>
            </a:r>
            <a:pPr indent="0" marL="0">
              <a:buNone/>
            </a:pPr>
            <a:r>
              <a:rPr lang="en-US" sz="750" b="1" dirty="0">
                <a:solidFill>
                  <a:srgbClr val="334155"/>
                </a:solidFill>
                <a:latin typeface="Arial" pitchFamily="34" charset="0"/>
                <a:ea typeface="Arial" pitchFamily="34" charset="-122"/>
                <a:cs typeface="Arial" pitchFamily="34" charset="-120"/>
              </a:rPr>
              <a:t>Target Date
</a:t>
            </a:r>
            <a:pPr indent="0" marL="0">
              <a:buNone/>
            </a:pPr>
            <a:r>
              <a:rPr lang="en-US" sz="650" dirty="0">
                <a:solidFill>
                  <a:srgbClr val="64748B"/>
                </a:solidFill>
                <a:latin typeface="Arial" pitchFamily="34" charset="0"/>
                <a:ea typeface="Arial" pitchFamily="34" charset="-122"/>
                <a:cs typeface="Arial" pitchFamily="34" charset="-120"/>
              </a:rPr>
              <a:t>In-progress transition cadence</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AIAE to AIAI
</a:t>
            </a:r>
            <a:pPr indent="0" marL="0">
              <a:buNone/>
            </a:pPr>
            <a:r>
              <a:rPr lang="en-US" sz="750" b="1" dirty="0">
                <a:solidFill>
                  <a:srgbClr val="334155"/>
                </a:solidFill>
                <a:latin typeface="Arial" pitchFamily="34" charset="0"/>
                <a:ea typeface="Arial" pitchFamily="34" charset="-122"/>
                <a:cs typeface="Arial" pitchFamily="34" charset="-120"/>
              </a:rPr>
              <a:t>Portfolio Scope
</a:t>
            </a:r>
            <a:pPr indent="0" marL="0">
              <a:buNone/>
            </a:pPr>
            <a:r>
              <a:rPr lang="en-US" sz="650" dirty="0">
                <a:solidFill>
                  <a:srgbClr val="64748B"/>
                </a:solidFill>
                <a:latin typeface="Arial" pitchFamily="34" charset="0"/>
                <a:ea typeface="Arial" pitchFamily="34" charset="-122"/>
                <a:cs typeface="Arial" pitchFamily="34" charset="-120"/>
              </a:rPr>
              <a:t>Full cross-entity portfolio transfer</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100% Target
</a:t>
            </a:r>
            <a:pPr indent="0" marL="0">
              <a:buNone/>
            </a:pPr>
            <a:r>
              <a:rPr lang="en-US" sz="750" b="1" dirty="0">
                <a:solidFill>
                  <a:srgbClr val="334155"/>
                </a:solidFill>
                <a:latin typeface="Arial" pitchFamily="34" charset="0"/>
                <a:ea typeface="Arial" pitchFamily="34" charset="-122"/>
                <a:cs typeface="Arial" pitchFamily="34" charset="-120"/>
              </a:rPr>
              <a:t>Payment Continuity
</a:t>
            </a:r>
            <a:pPr indent="0" marL="0">
              <a:buNone/>
            </a:pPr>
            <a:r>
              <a:rPr lang="en-US" sz="650" dirty="0">
                <a:solidFill>
                  <a:srgbClr val="64748B"/>
                </a:solidFill>
                <a:latin typeface="Arial" pitchFamily="34" charset="0"/>
                <a:ea typeface="Arial" pitchFamily="34" charset="-122"/>
                <a:cs typeface="Arial" pitchFamily="34" charset="-120"/>
              </a:rPr>
              <a:t>Zero unauthorized deduction drops</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Bank Drafts
</a:t>
            </a:r>
            <a:pPr indent="0" marL="0">
              <a:buNone/>
            </a:pPr>
            <a:r>
              <a:rPr lang="en-US" sz="750" b="1" dirty="0">
                <a:solidFill>
                  <a:srgbClr val="334155"/>
                </a:solidFill>
                <a:latin typeface="Arial" pitchFamily="34" charset="0"/>
                <a:ea typeface="Arial" pitchFamily="34" charset="-122"/>
                <a:cs typeface="Arial" pitchFamily="34" charset="-120"/>
              </a:rPr>
              <a:t>Monitoring Rigor
</a:t>
            </a:r>
            <a:pPr indent="0" marL="0">
              <a:buNone/>
            </a:pPr>
            <a:r>
              <a:rPr lang="en-US" sz="650" dirty="0">
                <a:solidFill>
                  <a:srgbClr val="64748B"/>
                </a:solidFill>
                <a:latin typeface="Arial" pitchFamily="34" charset="0"/>
                <a:ea typeface="Arial" pitchFamily="34" charset="-122"/>
                <a:cs typeface="Arial" pitchFamily="34" charset="-120"/>
              </a:rPr>
              <a:t>Enhanced payment AML reporting</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CORPORATE ENTITY TRANSITION
</a:t>
            </a:r>
            <a:pPr indent="0" marL="0">
              <a:buNone/>
            </a:pPr>
            <a:r>
              <a:rPr lang="en-US" sz="1000" b="1" dirty="0">
                <a:solidFill>
                  <a:srgbClr val="0F172A"/>
                </a:solidFill>
                <a:latin typeface="Arial" pitchFamily="34" charset="0"/>
                <a:ea typeface="Arial" pitchFamily="34" charset="-122"/>
                <a:cs typeface="Arial" pitchFamily="34" charset="-120"/>
              </a:rPr>
              <a:t>Project Bamboo: Seamless Payment Continuity
</a:t>
            </a:r>
            <a:pPr indent="0" marL="0">
              <a:buNone/>
            </a:pPr>
            <a:r>
              <a:rPr lang="en-US" sz="750" dirty="0">
                <a:solidFill>
                  <a:srgbClr val="475569"/>
                </a:solidFill>
                <a:latin typeface="Arial" pitchFamily="34" charset="0"/>
                <a:ea typeface="Arial" pitchFamily="34" charset="-122"/>
                <a:cs typeface="Arial" pitchFamily="34" charset="-120"/>
              </a:rPr>
              <a:t>Safeguarding continuous, uninterrupted premium collection throughout the AIAE-to-AIAI corporate portfolio transfer.
</a:t>
            </a:r>
            <a:pPr indent="0" marL="0">
              <a:buNone/>
            </a:pPr>
            <a:r>
              <a:rPr lang="en-US" sz="700" dirty="0">
                <a:solidFill>
                  <a:srgbClr val="1E293B"/>
                </a:solidFill>
                <a:latin typeface="Arial" pitchFamily="34" charset="0"/>
                <a:ea typeface="Arial" pitchFamily="34" charset="-122"/>
                <a:cs typeface="Arial" pitchFamily="34" charset="-120"/>
              </a:rPr>
              <a:t>• Ensuring complete alignment across Autopay merchant codes, credit card recurring tokens, and electronic payment gateways with AIAI.
</a:t>
            </a:r>
            <a:pPr indent="0" marL="0">
              <a:buNone/>
            </a:pPr>
            <a:r>
              <a:rPr lang="en-US" sz="700" dirty="0">
                <a:solidFill>
                  <a:srgbClr val="1E293B"/>
                </a:solidFill>
                <a:latin typeface="Arial" pitchFamily="34" charset="0"/>
                <a:ea typeface="Arial" pitchFamily="34" charset="-122"/>
                <a:cs typeface="Arial" pitchFamily="34" charset="-120"/>
              </a:rPr>
              <a:t>• Zero policyholder disruption: automated backend mandate migration minimizes customer re-authorization requirements.
</a:t>
            </a:r>
            <a:pPr indent="0" marL="0">
              <a:buNone/>
            </a:pPr>
            <a:r>
              <a:rPr lang="en-US" sz="700" dirty="0">
                <a:solidFill>
                  <a:srgbClr val="1E293B"/>
                </a:solidFill>
                <a:latin typeface="Arial" pitchFamily="34" charset="0"/>
                <a:ea typeface="Arial" pitchFamily="34" charset="-122"/>
                <a:cs typeface="Arial" pitchFamily="34" charset="-120"/>
              </a:rPr>
              <a:t>• Coordinated cross-functional readiness testing with clearing banks to prevent erroneous mandate cancellations or duplicate billings.
</a:t>
            </a:r>
            <a:pPr indent="0" marL="0">
              <a:buNone/>
            </a:pPr>
            <a:r>
              <a:rPr lang="en-US" sz="650" i="1" dirty="0">
                <a:solidFill>
                  <a:srgbClr val="64748B"/>
                </a:solidFill>
                <a:latin typeface="Arial" pitchFamily="34" charset="0"/>
                <a:ea typeface="Arial" pitchFamily="34" charset="-122"/>
                <a:cs typeface="Arial" pitchFamily="34" charset="-120"/>
              </a:rPr>
              <a:t>Focus: Project Bamboo · AIAE to AIAI · Zero Disruption</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FINANCIAL CRIME GOVERNANCE
</a:t>
            </a:r>
            <a:pPr indent="0" marL="0">
              <a:buNone/>
            </a:pPr>
            <a:r>
              <a:rPr lang="en-US" sz="1000" b="1" dirty="0">
                <a:solidFill>
                  <a:srgbClr val="0F172A"/>
                </a:solidFill>
                <a:latin typeface="Arial" pitchFamily="34" charset="0"/>
                <a:ea typeface="Arial" pitchFamily="34" charset="-122"/>
                <a:cs typeface="Arial" pitchFamily="34" charset="-120"/>
              </a:rPr>
              <a:t>Strengthen Payment Risk &amp; AML Controls
</a:t>
            </a:r>
            <a:pPr indent="0" marL="0">
              <a:buNone/>
            </a:pPr>
            <a:r>
              <a:rPr lang="en-US" sz="750" dirty="0">
                <a:solidFill>
                  <a:srgbClr val="475569"/>
                </a:solidFill>
                <a:latin typeface="Arial" pitchFamily="34" charset="0"/>
                <a:ea typeface="Arial" pitchFamily="34" charset="-122"/>
                <a:cs typeface="Arial" pitchFamily="34" charset="-120"/>
              </a:rPr>
              <a:t>Progressing Payment Solutions and Cashier regulatory enhancements to maintain ironclad financial crime defenses.
</a:t>
            </a:r>
            <a:pPr indent="0" marL="0">
              <a:buNone/>
            </a:pPr>
            <a:r>
              <a:rPr lang="en-US" sz="700" dirty="0">
                <a:solidFill>
                  <a:srgbClr val="1E293B"/>
                </a:solidFill>
                <a:latin typeface="Arial" pitchFamily="34" charset="0"/>
                <a:ea typeface="Arial" pitchFamily="34" charset="-122"/>
                <a:cs typeface="Arial" pitchFamily="34" charset="-120"/>
              </a:rPr>
              <a:t>• Heightened surveillance and automated monitoring on high-value bank drafts and third-party cashier cheques.
</a:t>
            </a:r>
            <a:pPr indent="0" marL="0">
              <a:buNone/>
            </a:pPr>
            <a:r>
              <a:rPr lang="en-US" sz="700" dirty="0">
                <a:solidFill>
                  <a:srgbClr val="1E293B"/>
                </a:solidFill>
                <a:latin typeface="Arial" pitchFamily="34" charset="0"/>
                <a:ea typeface="Arial" pitchFamily="34" charset="-122"/>
                <a:cs typeface="Arial" pitchFamily="34" charset="-120"/>
              </a:rPr>
              <a:t>• Upgraded payment regulatory reporting engines to comply with enhanced Hong Kong Customs and Excise and HKMA standards.
</a:t>
            </a:r>
            <a:pPr indent="0" marL="0">
              <a:buNone/>
            </a:pPr>
            <a:r>
              <a:rPr lang="en-US" sz="700" dirty="0">
                <a:solidFill>
                  <a:srgbClr val="1E293B"/>
                </a:solidFill>
                <a:latin typeface="Arial" pitchFamily="34" charset="0"/>
                <a:ea typeface="Arial" pitchFamily="34" charset="-122"/>
                <a:cs typeface="Arial" pitchFamily="34" charset="-120"/>
              </a:rPr>
              <a:t>• Balancing robust payment controls with smooth customer servicing to ensure legitimate payments clear without friction.
</a:t>
            </a:r>
            <a:pPr indent="0" marL="0">
              <a:buNone/>
            </a:pPr>
            <a:r>
              <a:rPr lang="en-US" sz="650" i="1" dirty="0">
                <a:solidFill>
                  <a:srgbClr val="64748B"/>
                </a:solidFill>
                <a:latin typeface="Arial" pitchFamily="34" charset="0"/>
                <a:ea typeface="Arial" pitchFamily="34" charset="-122"/>
                <a:cs typeface="Arial" pitchFamily="34" charset="-120"/>
              </a:rPr>
              <a:t>Focus: Bank-Draft Monitoring · Payment AML Controls · Regulatory Reporting</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Project Bamboo Portfolio Transfer Payment Continuity Architecture
</a:t>
            </a:r>
            <a:pPr indent="0" marL="0">
              <a:buNone/>
            </a:pPr>
            <a:r>
              <a:rPr lang="en-US" sz="650" dirty="0">
                <a:solidFill>
                  <a:srgbClr val="CBD5E1"/>
                </a:solidFill>
                <a:latin typeface="Arial" pitchFamily="34" charset="0"/>
                <a:ea typeface="Arial" pitchFamily="34" charset="-122"/>
                <a:cs typeface="Arial" pitchFamily="34" charset="-120"/>
              </a:rPr>
              <a:t>[01] Portfolio Mapping (Bamboo Working Group): Inventory all active AIAE Autopay mandates, credit card recurring tokens, and DDM files   |   [02] Bank Merchant Migration (Payment Solutions): Liaise with Citi &amp; partner banks to configure dual-running AIAI merchant billing credentials   |   [03] Mandate Porting &amp; Dry Run (Operations &amp; IT): Execute trial billing batch under AIAI rail; verify clearing reconciliation   |   [04] Seamless Live Cutover (POS Cashiering): Full live cutover to AIAI with zero customer disruption or unauthorized billing lapses
</a:t>
            </a:r>
            <a:pPr indent="0" marL="0">
              <a:buNone/>
            </a:pPr>
            <a:r>
              <a:rPr lang="en-US" sz="650" b="1" dirty="0">
                <a:solidFill>
                  <a:srgbClr val="F43F5E"/>
                </a:solidFill>
                <a:latin typeface="Arial" pitchFamily="34" charset="0"/>
                <a:ea typeface="Arial" pitchFamily="34" charset="-122"/>
                <a:cs typeface="Arial" pitchFamily="34" charset="-120"/>
              </a:rPr>
              <a:t>Key Operational Value: Project Bamboo safeguards recurring revenue streams during complex corporate entity restructuring. · Payment risk controls ensure stringent bank-draft monitoring without introducing unnecessary friction for legitimate customers.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13/18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1: Witness Signature Streamlining &amp; POS Tips</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Removing Unnecessary Administrative Friction and Establishing a Proactive Agency Communication Channel</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Eliminated
</a:t>
            </a:r>
            <a:pPr indent="0" marL="0">
              <a:buNone/>
            </a:pPr>
            <a:r>
              <a:rPr lang="en-US" sz="750" b="1" dirty="0">
                <a:solidFill>
                  <a:srgbClr val="334155"/>
                </a:solidFill>
                <a:latin typeface="Arial" pitchFamily="34" charset="0"/>
                <a:ea typeface="Arial" pitchFamily="34" charset="-122"/>
                <a:cs typeface="Arial" pitchFamily="34" charset="-120"/>
              </a:rPr>
              <a:t>Admin Friction
</a:t>
            </a:r>
            <a:pPr indent="0" marL="0">
              <a:buNone/>
            </a:pPr>
            <a:r>
              <a:rPr lang="en-US" sz="650" dirty="0">
                <a:solidFill>
                  <a:srgbClr val="64748B"/>
                </a:solidFill>
                <a:latin typeface="Arial" pitchFamily="34" charset="0"/>
                <a:ea typeface="Arial" pitchFamily="34" charset="-122"/>
                <a:cs typeface="Arial" pitchFamily="34" charset="-120"/>
              </a:rPr>
              <a:t>Unnecessary witness steps removed</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Bi-Monthly
</a:t>
            </a:r>
            <a:pPr indent="0" marL="0">
              <a:buNone/>
            </a:pPr>
            <a:r>
              <a:rPr lang="en-US" sz="750" b="1" dirty="0">
                <a:solidFill>
                  <a:srgbClr val="334155"/>
                </a:solidFill>
                <a:latin typeface="Arial" pitchFamily="34" charset="0"/>
                <a:ea typeface="Arial" pitchFamily="34" charset="-122"/>
                <a:cs typeface="Arial" pitchFamily="34" charset="-120"/>
              </a:rPr>
              <a:t>Communication
</a:t>
            </a:r>
            <a:pPr indent="0" marL="0">
              <a:buNone/>
            </a:pPr>
            <a:r>
              <a:rPr lang="en-US" sz="650" dirty="0">
                <a:solidFill>
                  <a:srgbClr val="64748B"/>
                </a:solidFill>
                <a:latin typeface="Arial" pitchFamily="34" charset="0"/>
                <a:ea typeface="Arial" pitchFamily="34" charset="-122"/>
                <a:cs typeface="Arial" pitchFamily="34" charset="-120"/>
              </a:rPr>
              <a:t>Regular POS Tips published to agency</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Measurable
</a:t>
            </a:r>
            <a:pPr indent="0" marL="0">
              <a:buNone/>
            </a:pPr>
            <a:r>
              <a:rPr lang="en-US" sz="750" b="1" dirty="0">
                <a:solidFill>
                  <a:srgbClr val="334155"/>
                </a:solidFill>
                <a:latin typeface="Arial" pitchFamily="34" charset="0"/>
                <a:ea typeface="Arial" pitchFamily="34" charset="-122"/>
                <a:cs typeface="Arial" pitchFamily="34" charset="-120"/>
              </a:rPr>
              <a:t>Enquiry Reductions
</a:t>
            </a:r>
            <a:pPr indent="0" marL="0">
              <a:buNone/>
            </a:pPr>
            <a:r>
              <a:rPr lang="en-US" sz="650" dirty="0">
                <a:solidFill>
                  <a:srgbClr val="64748B"/>
                </a:solidFill>
                <a:latin typeface="Arial" pitchFamily="34" charset="0"/>
                <a:ea typeface="Arial" pitchFamily="34" charset="-122"/>
                <a:cs typeface="Arial" pitchFamily="34" charset="-120"/>
              </a:rPr>
              <a:t>Proactive guidance prevents calls</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+30% FTR
</a:t>
            </a:r>
            <a:pPr indent="0" marL="0">
              <a:buNone/>
            </a:pPr>
            <a:r>
              <a:rPr lang="en-US" sz="750" b="1" dirty="0">
                <a:solidFill>
                  <a:srgbClr val="334155"/>
                </a:solidFill>
                <a:latin typeface="Arial" pitchFamily="34" charset="0"/>
                <a:ea typeface="Arial" pitchFamily="34" charset="-122"/>
                <a:cs typeface="Arial" pitchFamily="34" charset="-120"/>
              </a:rPr>
              <a:t>Submission Quality
</a:t>
            </a:r>
            <a:pPr indent="0" marL="0">
              <a:buNone/>
            </a:pPr>
            <a:r>
              <a:rPr lang="en-US" sz="650" dirty="0">
                <a:solidFill>
                  <a:srgbClr val="64748B"/>
                </a:solidFill>
                <a:latin typeface="Arial" pitchFamily="34" charset="0"/>
                <a:ea typeface="Arial" pitchFamily="34" charset="-122"/>
                <a:cs typeface="Arial" pitchFamily="34" charset="-120"/>
              </a:rPr>
              <a:t>Higher first-time-right accuracy</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#1
</a:t>
            </a:r>
            <a:pPr indent="0" marL="0">
              <a:buNone/>
            </a:pPr>
            <a:r>
              <a:rPr lang="en-US" sz="1000" b="1" dirty="0">
                <a:solidFill>
                  <a:srgbClr val="0F172A"/>
                </a:solidFill>
                <a:latin typeface="Arial" pitchFamily="34" charset="0"/>
                <a:ea typeface="Arial" pitchFamily="34" charset="-122"/>
                <a:cs typeface="Arial" pitchFamily="34" charset="-120"/>
              </a:rPr>
              <a:t>Enhancement of Witness Signature Requirement
</a:t>
            </a:r>
            <a:pPr indent="0" marL="0">
              <a:buNone/>
            </a:pPr>
            <a:r>
              <a:rPr lang="en-US" sz="750" dirty="0">
                <a:solidFill>
                  <a:srgbClr val="475569"/>
                </a:solidFill>
                <a:latin typeface="Arial" pitchFamily="34" charset="0"/>
                <a:ea typeface="Arial" pitchFamily="34" charset="-122"/>
                <a:cs typeface="Arial" pitchFamily="34" charset="-120"/>
              </a:rPr>
              <a:t>Enhanced and streamlined the witness signature requirement to simplify the submission and handling process.
</a:t>
            </a:r>
            <a:pPr indent="0" marL="0">
              <a:buNone/>
            </a:pPr>
            <a:r>
              <a:rPr lang="en-US" sz="700" dirty="0">
                <a:solidFill>
                  <a:srgbClr val="1E293B"/>
                </a:solidFill>
                <a:latin typeface="Arial" pitchFamily="34" charset="0"/>
                <a:ea typeface="Arial" pitchFamily="34" charset="-122"/>
                <a:cs typeface="Arial" pitchFamily="34" charset="-120"/>
              </a:rPr>
              <a:t>• Removed unnecessary administrative hurdles while strictly maintaining governance, anti-fraud, and compliance standards.
</a:t>
            </a:r>
            <a:pPr indent="0" marL="0">
              <a:buNone/>
            </a:pPr>
            <a:r>
              <a:rPr lang="en-US" sz="700" dirty="0">
                <a:solidFill>
                  <a:srgbClr val="1E293B"/>
                </a:solidFill>
                <a:latin typeface="Arial" pitchFamily="34" charset="0"/>
                <a:ea typeface="Arial" pitchFamily="34" charset="-122"/>
                <a:cs typeface="Arial" pitchFamily="34" charset="-120"/>
              </a:rPr>
              <a:t>• Made requirements crystal clear for customers and agents, removing ambiguity surrounding eligible witnesses.
</a:t>
            </a:r>
            <a:pPr indent="0" marL="0">
              <a:buNone/>
            </a:pPr>
            <a:r>
              <a:rPr lang="en-US" sz="700" dirty="0">
                <a:solidFill>
                  <a:srgbClr val="1E293B"/>
                </a:solidFill>
                <a:latin typeface="Arial" pitchFamily="34" charset="0"/>
                <a:ea typeface="Arial" pitchFamily="34" charset="-122"/>
                <a:cs typeface="Arial" pitchFamily="34" charset="-120"/>
              </a:rPr>
              <a:t>• Dramatically reduced avoidable follow-up, incomplete submissions, and processing delays arising from witness disputes.
</a:t>
            </a:r>
            <a:pPr indent="0" marL="0">
              <a:buNone/>
            </a:pPr>
            <a:r>
              <a:rPr lang="en-US" sz="650" i="1" dirty="0">
                <a:solidFill>
                  <a:srgbClr val="64748B"/>
                </a:solidFill>
                <a:latin typeface="Arial" pitchFamily="34" charset="0"/>
                <a:ea typeface="Arial" pitchFamily="34" charset="-122"/>
                <a:cs typeface="Arial" pitchFamily="34" charset="-120"/>
              </a:rPr>
              <a:t>Focus: Witness Streamlining · Reduced Discrepancies · Governance Preserved</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#2
</a:t>
            </a:r>
            <a:pPr indent="0" marL="0">
              <a:buNone/>
            </a:pPr>
            <a:r>
              <a:rPr lang="en-US" sz="1000" b="1" dirty="0">
                <a:solidFill>
                  <a:srgbClr val="0F172A"/>
                </a:solidFill>
                <a:latin typeface="Arial" pitchFamily="34" charset="0"/>
                <a:ea typeface="Arial" pitchFamily="34" charset="-122"/>
                <a:cs typeface="Arial" pitchFamily="34" charset="-120"/>
              </a:rPr>
              <a:t>Launch of Bi-Monthly POS Tips
</a:t>
            </a:r>
            <a:pPr indent="0" marL="0">
              <a:buNone/>
            </a:pPr>
            <a:r>
              <a:rPr lang="en-US" sz="750" dirty="0">
                <a:solidFill>
                  <a:srgbClr val="475569"/>
                </a:solidFill>
                <a:latin typeface="Arial" pitchFamily="34" charset="0"/>
                <a:ea typeface="Arial" pitchFamily="34" charset="-122"/>
                <a:cs typeface="Arial" pitchFamily="34" charset="-120"/>
              </a:rPr>
              <a:t>Launched a regular communication channel to provide agents with timely, practical guidance on Policy Owner Service matters.
</a:t>
            </a:r>
            <a:pPr indent="0" marL="0">
              <a:buNone/>
            </a:pPr>
            <a:r>
              <a:rPr lang="en-US" sz="700" dirty="0">
                <a:solidFill>
                  <a:srgbClr val="1E293B"/>
                </a:solidFill>
                <a:latin typeface="Arial" pitchFamily="34" charset="0"/>
                <a:ea typeface="Arial" pitchFamily="34" charset="-122"/>
                <a:cs typeface="Arial" pitchFamily="34" charset="-120"/>
              </a:rPr>
              <a:t>• Topics developed directly from agent feedback, case observations, recurring submission errors, and daily operational pain points.
</a:t>
            </a:r>
            <a:pPr indent="0" marL="0">
              <a:buNone/>
            </a:pPr>
            <a:r>
              <a:rPr lang="en-US" sz="700" dirty="0">
                <a:solidFill>
                  <a:srgbClr val="1E293B"/>
                </a:solidFill>
                <a:latin typeface="Arial" pitchFamily="34" charset="0"/>
                <a:ea typeface="Arial" pitchFamily="34" charset="-122"/>
                <a:cs typeface="Arial" pitchFamily="34" charset="-120"/>
              </a:rPr>
              <a:t>• Addresses recurring concerns proactively through actionable reminders rather than relying on piecemeal case-by-case clarification.
</a:t>
            </a:r>
            <a:pPr indent="0" marL="0">
              <a:buNone/>
            </a:pPr>
            <a:r>
              <a:rPr lang="en-US" sz="700" dirty="0">
                <a:solidFill>
                  <a:srgbClr val="1E293B"/>
                </a:solidFill>
                <a:latin typeface="Arial" pitchFamily="34" charset="0"/>
                <a:ea typeface="Arial" pitchFamily="34" charset="-122"/>
                <a:cs typeface="Arial" pitchFamily="34" charset="-120"/>
              </a:rPr>
              <a:t>• Fosters stronger partnership between POS and the agency force, creating a more consistent, error-free customer experience.
</a:t>
            </a:r>
            <a:pPr indent="0" marL="0">
              <a:buNone/>
            </a:pPr>
            <a:r>
              <a:rPr lang="en-US" sz="650" i="1" dirty="0">
                <a:solidFill>
                  <a:srgbClr val="64748B"/>
                </a:solidFill>
                <a:latin typeface="Arial" pitchFamily="34" charset="0"/>
                <a:ea typeface="Arial" pitchFamily="34" charset="-122"/>
                <a:cs typeface="Arial" pitchFamily="34" charset="-120"/>
              </a:rPr>
              <a:t>Focus: Bi-Monthly Tips · Agency Feedback Loop · Proactive Communication</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Before vs. After: Witness Signature Requirement &amp; Agent Guidance Model
</a:t>
            </a:r>
            <a:pPr indent="0" marL="0">
              <a:buNone/>
            </a:pPr>
            <a:r>
              <a:rPr lang="en-US" sz="650" dirty="0">
                <a:solidFill>
                  <a:srgbClr val="CBD5E1"/>
                </a:solidFill>
                <a:latin typeface="Arial" pitchFamily="34" charset="0"/>
                <a:ea typeface="Arial" pitchFamily="34" charset="-122"/>
                <a:cs typeface="Arial" pitchFamily="34" charset="-120"/>
              </a:rPr>
              <a:t>Witness Requirement: Rigid, multi-step witness attestation causing frequent submission rejections ➔ Streamlined, risk-proportionate witness criteria clearly documented in forms (Impact: Substantial drop in rejected submissions)   |   Agency Communication: Passive reliance on case-by-case pending notices and phone inquiries ➔ Proactive Bi-monthly POS Tips highlighting common errors and reminders (Impact: Repeat agent errors down significantly)   |   Customer Journey: Customers recalled to branches for redundant witness re-signing ➔ First-time-right submission with zero follow-up delay (Impact: Smoother, professional customer experience)
</a:t>
            </a:r>
            <a:pPr indent="0" marL="0">
              <a:buNone/>
            </a:pPr>
            <a:r>
              <a:rPr lang="en-US" sz="650" b="1" dirty="0">
                <a:solidFill>
                  <a:srgbClr val="F43F5E"/>
                </a:solidFill>
                <a:latin typeface="Arial" pitchFamily="34" charset="0"/>
                <a:ea typeface="Arial" pitchFamily="34" charset="-122"/>
                <a:cs typeface="Arial" pitchFamily="34" charset="-120"/>
              </a:rPr>
              <a:t>Key Operational Value: Administrative rules must be continually audited: unnecessary steps frustrate customers without adding risk protection. · Proactive education through Bi-Monthly POS Tips prevents errors before they reach our processing queues.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14/18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2: Product "SelectWise" In-Line Declaration</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Embedding Customer Declarations for Existing Exclusions and Loadings Directly at Point of Submission</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Zero Rework
</a:t>
            </a:r>
            <a:pPr indent="0" marL="0">
              <a:buNone/>
            </a:pPr>
            <a:r>
              <a:rPr lang="en-US" sz="750" b="1" dirty="0">
                <a:solidFill>
                  <a:srgbClr val="334155"/>
                </a:solidFill>
                <a:latin typeface="Arial" pitchFamily="34" charset="0"/>
                <a:ea typeface="Arial" pitchFamily="34" charset="-122"/>
                <a:cs typeface="Arial" pitchFamily="34" charset="-120"/>
              </a:rPr>
              <a:t>Pending Reduction
</a:t>
            </a:r>
            <a:pPr indent="0" marL="0">
              <a:buNone/>
            </a:pPr>
            <a:r>
              <a:rPr lang="en-US" sz="650" dirty="0">
                <a:solidFill>
                  <a:srgbClr val="64748B"/>
                </a:solidFill>
                <a:latin typeface="Arial" pitchFamily="34" charset="0"/>
                <a:ea typeface="Arial" pitchFamily="34" charset="-122"/>
                <a:cs typeface="Arial" pitchFamily="34" charset="-120"/>
              </a:rPr>
              <a:t>No separate supplementary forms</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-35%
</a:t>
            </a:r>
            <a:pPr indent="0" marL="0">
              <a:buNone/>
            </a:pPr>
            <a:r>
              <a:rPr lang="en-US" sz="750" b="1" dirty="0">
                <a:solidFill>
                  <a:srgbClr val="334155"/>
                </a:solidFill>
                <a:latin typeface="Arial" pitchFamily="34" charset="0"/>
                <a:ea typeface="Arial" pitchFamily="34" charset="-122"/>
                <a:cs typeface="Arial" pitchFamily="34" charset="-120"/>
              </a:rPr>
              <a:t>Touch Time
</a:t>
            </a:r>
            <a:pPr indent="0" marL="0">
              <a:buNone/>
            </a:pPr>
            <a:r>
              <a:rPr lang="en-US" sz="650" dirty="0">
                <a:solidFill>
                  <a:srgbClr val="64748B"/>
                </a:solidFill>
                <a:latin typeface="Arial" pitchFamily="34" charset="0"/>
                <a:ea typeface="Arial" pitchFamily="34" charset="-122"/>
                <a:cs typeface="Arial" pitchFamily="34" charset="-120"/>
              </a:rPr>
              <a:t>Faster turnaround to completion</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Upfront
</a:t>
            </a:r>
            <a:pPr indent="0" marL="0">
              <a:buNone/>
            </a:pPr>
            <a:r>
              <a:rPr lang="en-US" sz="750" b="1" dirty="0">
                <a:solidFill>
                  <a:srgbClr val="334155"/>
                </a:solidFill>
                <a:latin typeface="Arial" pitchFamily="34" charset="0"/>
                <a:ea typeface="Arial" pitchFamily="34" charset="-122"/>
                <a:cs typeface="Arial" pitchFamily="34" charset="-120"/>
              </a:rPr>
              <a:t>Customer Clarity
</a:t>
            </a:r>
            <a:pPr indent="0" marL="0">
              <a:buNone/>
            </a:pPr>
            <a:r>
              <a:rPr lang="en-US" sz="650" dirty="0">
                <a:solidFill>
                  <a:srgbClr val="64748B"/>
                </a:solidFill>
                <a:latin typeface="Arial" pitchFamily="34" charset="0"/>
                <a:ea typeface="Arial" pitchFamily="34" charset="-122"/>
                <a:cs typeface="Arial" pitchFamily="34" charset="-120"/>
              </a:rPr>
              <a:t>Exclusions declared at submission</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Minimized
</a:t>
            </a:r>
            <a:pPr indent="0" marL="0">
              <a:buNone/>
            </a:pPr>
            <a:r>
              <a:rPr lang="en-US" sz="750" b="1" dirty="0">
                <a:solidFill>
                  <a:srgbClr val="334155"/>
                </a:solidFill>
                <a:latin typeface="Arial" pitchFamily="34" charset="0"/>
                <a:ea typeface="Arial" pitchFamily="34" charset="-122"/>
                <a:cs typeface="Arial" pitchFamily="34" charset="-120"/>
              </a:rPr>
              <a:t>Agent Admin
</a:t>
            </a:r>
            <a:pPr indent="0" marL="0">
              <a:buNone/>
            </a:pPr>
            <a:r>
              <a:rPr lang="en-US" sz="650" dirty="0">
                <a:solidFill>
                  <a:srgbClr val="64748B"/>
                </a:solidFill>
                <a:latin typeface="Arial" pitchFamily="34" charset="0"/>
                <a:ea typeface="Arial" pitchFamily="34" charset="-122"/>
                <a:cs typeface="Arial" pitchFamily="34" charset="-120"/>
              </a:rPr>
              <a:t>No follow-up chasing required</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#3
</a:t>
            </a:r>
            <a:pPr indent="0" marL="0">
              <a:buNone/>
            </a:pPr>
            <a:r>
              <a:rPr lang="en-US" sz="1000" b="1" dirty="0">
                <a:solidFill>
                  <a:srgbClr val="0F172A"/>
                </a:solidFill>
                <a:latin typeface="Arial" pitchFamily="34" charset="0"/>
                <a:ea typeface="Arial" pitchFamily="34" charset="-122"/>
                <a:cs typeface="Arial" pitchFamily="34" charset="-120"/>
              </a:rPr>
              <a:t>Point-of-Submission Declaration Embedding
</a:t>
            </a:r>
            <a:pPr indent="0" marL="0">
              <a:buNone/>
            </a:pPr>
            <a:r>
              <a:rPr lang="en-US" sz="750" dirty="0">
                <a:solidFill>
                  <a:srgbClr val="475569"/>
                </a:solidFill>
                <a:latin typeface="Arial" pitchFamily="34" charset="0"/>
                <a:ea typeface="Arial" pitchFamily="34" charset="-122"/>
                <a:cs typeface="Arial" pitchFamily="34" charset="-120"/>
              </a:rPr>
              <a:t>Enhanced the Product "SelectWise" plan-change process by embedding a customer declaration for existing exclusions and premium loadings.
</a:t>
            </a:r>
            <a:pPr indent="0" marL="0">
              <a:buNone/>
            </a:pPr>
            <a:r>
              <a:rPr lang="en-US" sz="700" dirty="0">
                <a:solidFill>
                  <a:srgbClr val="1E293B"/>
                </a:solidFill>
                <a:latin typeface="Arial" pitchFamily="34" charset="0"/>
                <a:ea typeface="Arial" pitchFamily="34" charset="-122"/>
                <a:cs typeface="Arial" pitchFamily="34" charset="-120"/>
              </a:rPr>
              <a:t>• Enables customers to acknowledge applicable exclusions and loadings directly in the primary plan-change submission form.
</a:t>
            </a:r>
            <a:pPr indent="0" marL="0">
              <a:buNone/>
            </a:pPr>
            <a:r>
              <a:rPr lang="en-US" sz="700" dirty="0">
                <a:solidFill>
                  <a:srgbClr val="1E293B"/>
                </a:solidFill>
                <a:latin typeface="Arial" pitchFamily="34" charset="0"/>
                <a:ea typeface="Arial" pitchFamily="34" charset="-122"/>
                <a:cs typeface="Arial" pitchFamily="34" charset="-120"/>
              </a:rPr>
              <a:t>• Provides indisputable, legally sound evidence of customer understanding and informed consent at the very outset.
</a:t>
            </a:r>
            <a:pPr indent="0" marL="0">
              <a:buNone/>
            </a:pPr>
            <a:r>
              <a:rPr lang="en-US" sz="700" dirty="0">
                <a:solidFill>
                  <a:srgbClr val="1E293B"/>
                </a:solidFill>
                <a:latin typeface="Arial" pitchFamily="34" charset="0"/>
                <a:ea typeface="Arial" pitchFamily="34" charset="-122"/>
                <a:cs typeface="Arial" pitchFamily="34" charset="-120"/>
              </a:rPr>
              <a:t>• Eliminates the legacy requirement of issuing separate pending requests to obtain supplementary customer confirmation.
</a:t>
            </a:r>
            <a:pPr indent="0" marL="0">
              <a:buNone/>
            </a:pPr>
            <a:r>
              <a:rPr lang="en-US" sz="650" i="1" dirty="0">
                <a:solidFill>
                  <a:srgbClr val="64748B"/>
                </a:solidFill>
                <a:latin typeface="Arial" pitchFamily="34" charset="0"/>
                <a:ea typeface="Arial" pitchFamily="34" charset="-122"/>
                <a:cs typeface="Arial" pitchFamily="34" charset="-120"/>
              </a:rPr>
              <a:t>Focus: SelectWise Enhancement · In-Line Declaration · Legal Evidence</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EFFICIENCY GAINS
</a:t>
            </a:r>
            <a:pPr indent="0" marL="0">
              <a:buNone/>
            </a:pPr>
            <a:r>
              <a:rPr lang="en-US" sz="1000" b="1" dirty="0">
                <a:solidFill>
                  <a:srgbClr val="0F172A"/>
                </a:solidFill>
                <a:latin typeface="Arial" pitchFamily="34" charset="0"/>
                <a:ea typeface="Arial" pitchFamily="34" charset="-122"/>
                <a:cs typeface="Arial" pitchFamily="34" charset="-120"/>
              </a:rPr>
              <a:t>Operational Impact &amp; Experience Transformation
</a:t>
            </a:r>
            <a:pPr indent="0" marL="0">
              <a:buNone/>
            </a:pPr>
            <a:r>
              <a:rPr lang="en-US" sz="750" dirty="0">
                <a:solidFill>
                  <a:srgbClr val="475569"/>
                </a:solidFill>
                <a:latin typeface="Arial" pitchFamily="34" charset="0"/>
                <a:ea typeface="Arial" pitchFamily="34" charset="-122"/>
                <a:cs typeface="Arial" pitchFamily="34" charset="-120"/>
              </a:rPr>
              <a:t>Radically simplified the operational handling and agent workflow for plan-change transactions.
</a:t>
            </a:r>
            <a:pPr indent="0" marL="0">
              <a:buNone/>
            </a:pPr>
            <a:r>
              <a:rPr lang="en-US" sz="700" dirty="0">
                <a:solidFill>
                  <a:srgbClr val="1E293B"/>
                </a:solidFill>
                <a:latin typeface="Arial" pitchFamily="34" charset="0"/>
                <a:ea typeface="Arial" pitchFamily="34" charset="-122"/>
                <a:cs typeface="Arial" pitchFamily="34" charset="-120"/>
              </a:rPr>
              <a:t>• Dramatically reduced the administrative burden on agents, who previously had to revisit customers for supplementary confirmation.
</a:t>
            </a:r>
            <a:pPr indent="0" marL="0">
              <a:buNone/>
            </a:pPr>
            <a:r>
              <a:rPr lang="en-US" sz="700" dirty="0">
                <a:solidFill>
                  <a:srgbClr val="1E293B"/>
                </a:solidFill>
                <a:latin typeface="Arial" pitchFamily="34" charset="0"/>
                <a:ea typeface="Arial" pitchFamily="34" charset="-122"/>
                <a:cs typeface="Arial" pitchFamily="34" charset="-120"/>
              </a:rPr>
              <a:t>• Shortened processing touch time and eliminated back-and-forth paper chasing between POS, agency, and policyholders.
</a:t>
            </a:r>
            <a:pPr indent="0" marL="0">
              <a:buNone/>
            </a:pPr>
            <a:r>
              <a:rPr lang="en-US" sz="700" dirty="0">
                <a:solidFill>
                  <a:srgbClr val="1E293B"/>
                </a:solidFill>
                <a:latin typeface="Arial" pitchFamily="34" charset="0"/>
                <a:ea typeface="Arial" pitchFamily="34" charset="-122"/>
                <a:cs typeface="Arial" pitchFamily="34" charset="-120"/>
              </a:rPr>
              <a:t>• Established a scalable template for other life and health products undergoing policy alteration and plan conversion.
</a:t>
            </a:r>
            <a:pPr indent="0" marL="0">
              <a:buNone/>
            </a:pPr>
            <a:r>
              <a:rPr lang="en-US" sz="650" i="1" dirty="0">
                <a:solidFill>
                  <a:srgbClr val="64748B"/>
                </a:solidFill>
                <a:latin typeface="Arial" pitchFamily="34" charset="0"/>
                <a:ea typeface="Arial" pitchFamily="34" charset="-122"/>
                <a:cs typeface="Arial" pitchFamily="34" charset="-120"/>
              </a:rPr>
              <a:t>Focus: Zero Agent Chasing · Shortened Touch Time · Scalable Template</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Product "SelectWise" Plan Change: Legacy vs. In-Line Declaration Process
</a:t>
            </a:r>
            <a:pPr indent="0" marL="0">
              <a:buNone/>
            </a:pPr>
            <a:r>
              <a:rPr lang="en-US" sz="650" dirty="0">
                <a:solidFill>
                  <a:srgbClr val="CBD5E1"/>
                </a:solidFill>
                <a:latin typeface="Arial" pitchFamily="34" charset="0"/>
                <a:ea typeface="Arial" pitchFamily="34" charset="-122"/>
                <a:cs typeface="Arial" pitchFamily="34" charset="-120"/>
              </a:rPr>
              <a:t>[Legacy] Submit Plan Change (Agent): Standard alteration form submitted without loading acknowledgement   |   [Legacy Pending] POS Pending Issued (POS Handler): Case placed on pending; agent must contact customer for supplementary declaration   |   [New Flow] Embedded Declaration (Customer &amp; Agent): Existing exclusions &amp; loadings acknowledged directly in submission form   |   [Completion] Straight-Through Approval (POS Engine): Immediate validation and policy endorsement with zero pending delay
</a:t>
            </a:r>
            <a:pPr indent="0" marL="0">
              <a:buNone/>
            </a:pPr>
            <a:r>
              <a:rPr lang="en-US" sz="650" b="1" dirty="0">
                <a:solidFill>
                  <a:srgbClr val="F43F5E"/>
                </a:solidFill>
                <a:latin typeface="Arial" pitchFamily="34" charset="0"/>
                <a:ea typeface="Arial" pitchFamily="34" charset="-122"/>
                <a:cs typeface="Arial" pitchFamily="34" charset="-120"/>
              </a:rPr>
              <a:t>Key Operational Value: Embedding declarations upfront prevents avoidable pending cycles that previously paralyzed plan-change processing. · This pattern proves that legal clarity and operational speed can be achieved simultaneously through smart form design.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15/18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3: Change of Ownership Digital Leap</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Integrating iChange with iVerify and Pre-Populating Customer Data Directly into POSA</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Connected
</a:t>
            </a:r>
            <a:pPr indent="0" marL="0">
              <a:buNone/>
            </a:pPr>
            <a:r>
              <a:rPr lang="en-US" sz="750" b="1" dirty="0">
                <a:solidFill>
                  <a:srgbClr val="334155"/>
                </a:solidFill>
                <a:latin typeface="Arial" pitchFamily="34" charset="0"/>
                <a:ea typeface="Arial" pitchFamily="34" charset="-122"/>
                <a:cs typeface="Arial" pitchFamily="34" charset="-120"/>
              </a:rPr>
              <a:t>iChange + iVerify
</a:t>
            </a:r>
            <a:pPr indent="0" marL="0">
              <a:buNone/>
            </a:pPr>
            <a:r>
              <a:rPr lang="en-US" sz="650" dirty="0">
                <a:solidFill>
                  <a:srgbClr val="64748B"/>
                </a:solidFill>
                <a:latin typeface="Arial" pitchFamily="34" charset="0"/>
                <a:ea typeface="Arial" pitchFamily="34" charset="-122"/>
                <a:cs typeface="Arial" pitchFamily="34" charset="-120"/>
              </a:rPr>
              <a:t>Unified end-to-end digital journey</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Automated
</a:t>
            </a:r>
            <a:pPr indent="0" marL="0">
              <a:buNone/>
            </a:pPr>
            <a:r>
              <a:rPr lang="en-US" sz="750" b="1" dirty="0">
                <a:solidFill>
                  <a:srgbClr val="334155"/>
                </a:solidFill>
                <a:latin typeface="Arial" pitchFamily="34" charset="0"/>
                <a:ea typeface="Arial" pitchFamily="34" charset="-122"/>
                <a:cs typeface="Arial" pitchFamily="34" charset="-120"/>
              </a:rPr>
              <a:t>POSA Pre-Pop
</a:t>
            </a:r>
            <a:pPr indent="0" marL="0">
              <a:buNone/>
            </a:pPr>
            <a:r>
              <a:rPr lang="en-US" sz="650" dirty="0">
                <a:solidFill>
                  <a:srgbClr val="64748B"/>
                </a:solidFill>
                <a:latin typeface="Arial" pitchFamily="34" charset="0"/>
                <a:ea typeface="Arial" pitchFamily="34" charset="-122"/>
                <a:cs typeface="Arial" pitchFamily="34" charset="-120"/>
              </a:rPr>
              <a:t>Direct data flow into processing core</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-80%
</a:t>
            </a:r>
            <a:pPr indent="0" marL="0">
              <a:buNone/>
            </a:pPr>
            <a:r>
              <a:rPr lang="en-US" sz="750" b="1" dirty="0">
                <a:solidFill>
                  <a:srgbClr val="334155"/>
                </a:solidFill>
                <a:latin typeface="Arial" pitchFamily="34" charset="0"/>
                <a:ea typeface="Arial" pitchFamily="34" charset="-122"/>
                <a:cs typeface="Arial" pitchFamily="34" charset="-120"/>
              </a:rPr>
              <a:t>Manual Data Entry
</a:t>
            </a:r>
            <a:pPr indent="0" marL="0">
              <a:buNone/>
            </a:pPr>
            <a:r>
              <a:rPr lang="en-US" sz="650" dirty="0">
                <a:solidFill>
                  <a:srgbClr val="64748B"/>
                </a:solidFill>
                <a:latin typeface="Arial" pitchFamily="34" charset="0"/>
                <a:ea typeface="Arial" pitchFamily="34" charset="-122"/>
                <a:cs typeface="Arial" pitchFamily="34" charset="-120"/>
              </a:rPr>
              <a:t>Staff re-keying largely eradicated</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100%
</a:t>
            </a:r>
            <a:pPr indent="0" marL="0">
              <a:buNone/>
            </a:pPr>
            <a:r>
              <a:rPr lang="en-US" sz="750" b="1" dirty="0">
                <a:solidFill>
                  <a:srgbClr val="334155"/>
                </a:solidFill>
                <a:latin typeface="Arial" pitchFamily="34" charset="0"/>
                <a:ea typeface="Arial" pitchFamily="34" charset="-122"/>
                <a:cs typeface="Arial" pitchFamily="34" charset="-120"/>
              </a:rPr>
              <a:t>Data Consistency
</a:t>
            </a:r>
            <a:pPr indent="0" marL="0">
              <a:buNone/>
            </a:pPr>
            <a:r>
              <a:rPr lang="en-US" sz="650" dirty="0">
                <a:solidFill>
                  <a:srgbClr val="64748B"/>
                </a:solidFill>
                <a:latin typeface="Arial" pitchFamily="34" charset="0"/>
                <a:ea typeface="Arial" pitchFamily="34" charset="-122"/>
                <a:cs typeface="Arial" pitchFamily="34" charset="-120"/>
              </a:rPr>
              <a:t>Identical records across all platforms</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#4(A)
</a:t>
            </a:r>
            <a:pPr indent="0" marL="0">
              <a:buNone/>
            </a:pPr>
            <a:r>
              <a:rPr lang="en-US" sz="1000" b="1" dirty="0">
                <a:solidFill>
                  <a:srgbClr val="0F172A"/>
                </a:solidFill>
                <a:latin typeface="Arial" pitchFamily="34" charset="0"/>
                <a:ea typeface="Arial" pitchFamily="34" charset="-122"/>
                <a:cs typeface="Arial" pitchFamily="34" charset="-120"/>
              </a:rPr>
              <a:t>Integration of iChange with iVerify
</a:t>
            </a:r>
            <a:pPr indent="0" marL="0">
              <a:buNone/>
            </a:pPr>
            <a:r>
              <a:rPr lang="en-US" sz="750" dirty="0">
                <a:solidFill>
                  <a:srgbClr val="475569"/>
                </a:solidFill>
                <a:latin typeface="Arial" pitchFamily="34" charset="0"/>
                <a:ea typeface="Arial" pitchFamily="34" charset="-122"/>
                <a:cs typeface="Arial" pitchFamily="34" charset="-120"/>
              </a:rPr>
              <a:t>Established a direct, seamless linkage between iChange and the iVerify customer identity verification portal.
</a:t>
            </a:r>
            <a:pPr indent="0" marL="0">
              <a:buNone/>
            </a:pPr>
            <a:r>
              <a:rPr lang="en-US" sz="700" dirty="0">
                <a:solidFill>
                  <a:srgbClr val="1E293B"/>
                </a:solidFill>
                <a:latin typeface="Arial" pitchFamily="34" charset="0"/>
                <a:ea typeface="Arial" pitchFamily="34" charset="-122"/>
                <a:cs typeface="Arial" pitchFamily="34" charset="-120"/>
              </a:rPr>
              <a:t>• Streamlined the identity verification process for complex Change of Ownership submissions across new and existing owners.
</a:t>
            </a:r>
            <a:pPr indent="0" marL="0">
              <a:buNone/>
            </a:pPr>
            <a:r>
              <a:rPr lang="en-US" sz="700" dirty="0">
                <a:solidFill>
                  <a:srgbClr val="1E293B"/>
                </a:solidFill>
                <a:latin typeface="Arial" pitchFamily="34" charset="0"/>
                <a:ea typeface="Arial" pitchFamily="34" charset="-122"/>
                <a:cs typeface="Arial" pitchFamily="34" charset="-120"/>
              </a:rPr>
              <a:t>• Eliminated disconnected steps and redundant customer document uploads across fragmented platforms.
</a:t>
            </a:r>
            <a:pPr indent="0" marL="0">
              <a:buNone/>
            </a:pPr>
            <a:r>
              <a:rPr lang="en-US" sz="700" dirty="0">
                <a:solidFill>
                  <a:srgbClr val="1E293B"/>
                </a:solidFill>
                <a:latin typeface="Arial" pitchFamily="34" charset="0"/>
                <a:ea typeface="Arial" pitchFamily="34" charset="-122"/>
                <a:cs typeface="Arial" pitchFamily="34" charset="-120"/>
              </a:rPr>
              <a:t>• Strengthened submission accuracy by supporting a structured, consistent, and cryptographically verified digital identity check.
</a:t>
            </a:r>
            <a:pPr indent="0" marL="0">
              <a:buNone/>
            </a:pPr>
            <a:r>
              <a:rPr lang="en-US" sz="650" i="1" dirty="0">
                <a:solidFill>
                  <a:srgbClr val="64748B"/>
                </a:solidFill>
                <a:latin typeface="Arial" pitchFamily="34" charset="0"/>
                <a:ea typeface="Arial" pitchFamily="34" charset="-122"/>
                <a:cs typeface="Arial" pitchFamily="34" charset="-120"/>
              </a:rPr>
              <a:t>Focus: iChange + iVerify · Unified Journey · Identity Security</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#4(B)
</a:t>
            </a:r>
            <a:pPr indent="0" marL="0">
              <a:buNone/>
            </a:pPr>
            <a:r>
              <a:rPr lang="en-US" sz="1000" b="1" dirty="0">
                <a:solidFill>
                  <a:srgbClr val="0F172A"/>
                </a:solidFill>
                <a:latin typeface="Arial" pitchFamily="34" charset="0"/>
                <a:ea typeface="Arial" pitchFamily="34" charset="-122"/>
                <a:cs typeface="Arial" pitchFamily="34" charset="-120"/>
              </a:rPr>
              <a:t>Pre-Population of iChange Information in POSA
</a:t>
            </a:r>
            <a:pPr indent="0" marL="0">
              <a:buNone/>
            </a:pPr>
            <a:r>
              <a:rPr lang="en-US" sz="750" dirty="0">
                <a:solidFill>
                  <a:srgbClr val="475569"/>
                </a:solidFill>
                <a:latin typeface="Arial" pitchFamily="34" charset="0"/>
                <a:ea typeface="Arial" pitchFamily="34" charset="-122"/>
                <a:cs typeface="Arial" pitchFamily="34" charset="-120"/>
              </a:rPr>
              <a:t>Introduced automated data flow from customer-facing iChange directly into the internal POSA servicing platform.
</a:t>
            </a:r>
            <a:pPr indent="0" marL="0">
              <a:buNone/>
            </a:pPr>
            <a:r>
              <a:rPr lang="en-US" sz="700" dirty="0">
                <a:solidFill>
                  <a:srgbClr val="1E293B"/>
                </a:solidFill>
                <a:latin typeface="Arial" pitchFamily="34" charset="0"/>
                <a:ea typeface="Arial" pitchFamily="34" charset="-122"/>
                <a:cs typeface="Arial" pitchFamily="34" charset="-120"/>
              </a:rPr>
              <a:t>• Customer-entered data automatically pre-populates internal servicing fields, eliminating manual back-office re-keying.
</a:t>
            </a:r>
            <a:pPr indent="0" marL="0">
              <a:buNone/>
            </a:pPr>
            <a:r>
              <a:rPr lang="en-US" sz="700" dirty="0">
                <a:solidFill>
                  <a:srgbClr val="1E293B"/>
                </a:solidFill>
                <a:latin typeface="Arial" pitchFamily="34" charset="0"/>
                <a:ea typeface="Arial" pitchFamily="34" charset="-122"/>
                <a:cs typeface="Arial" pitchFamily="34" charset="-120"/>
              </a:rPr>
              <a:t>• Radically minimized human transcription errors and discrepancies between customer intent and recorded policy records.
</a:t>
            </a:r>
            <a:pPr indent="0" marL="0">
              <a:buNone/>
            </a:pPr>
            <a:r>
              <a:rPr lang="en-US" sz="700" dirty="0">
                <a:solidFill>
                  <a:srgbClr val="1E293B"/>
                </a:solidFill>
                <a:latin typeface="Arial" pitchFamily="34" charset="0"/>
                <a:ea typeface="Arial" pitchFamily="34" charset="-122"/>
                <a:cs typeface="Arial" pitchFamily="34" charset="-120"/>
              </a:rPr>
              <a:t>• Significantly reduced handler touch time per case, enabling staff to focus on high-touch complex validation.
</a:t>
            </a:r>
            <a:pPr indent="0" marL="0">
              <a:buNone/>
            </a:pPr>
            <a:r>
              <a:rPr lang="en-US" sz="650" i="1" dirty="0">
                <a:solidFill>
                  <a:srgbClr val="64748B"/>
                </a:solidFill>
                <a:latin typeface="Arial" pitchFamily="34" charset="0"/>
                <a:ea typeface="Arial" pitchFamily="34" charset="-122"/>
                <a:cs typeface="Arial" pitchFamily="34" charset="-120"/>
              </a:rPr>
              <a:t>Focus: POSA Pre-Population · Zero Re-Keying · Productivity Boost</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Change of Ownership End-to-End Digital Architecture (iChange -&gt; iVerify -&gt; POSA)
</a:t>
            </a:r>
            <a:pPr indent="0" marL="0">
              <a:buNone/>
            </a:pPr>
            <a:r>
              <a:rPr lang="en-US" sz="650" dirty="0">
                <a:solidFill>
                  <a:srgbClr val="CBD5E1"/>
                </a:solidFill>
                <a:latin typeface="Arial" pitchFamily="34" charset="0"/>
                <a:ea typeface="Arial" pitchFamily="34" charset="-122"/>
                <a:cs typeface="Arial" pitchFamily="34" charset="-120"/>
              </a:rPr>
              <a:t>[01] iChange Intake (Customer / Agent): Customer initiates Change of Ownership; inputs personal, tax, and relationship data   |   [02] iVerify Biometric Link (iVerify Subsystem): Seamless jump to iVerify for biometric identity verification &amp; Smart ID validation   |   [03] Automated POSA Pipe (Integration Bus): Verified data and credentials stream directly into internal POSA workbench   |   [04] One-Click Handler Review (POS Staff): Handler reviews pre-populated fields, verifies legal requirements, and commits update
</a:t>
            </a:r>
            <a:pPr indent="0" marL="0">
              <a:buNone/>
            </a:pPr>
            <a:r>
              <a:rPr lang="en-US" sz="650" b="1" dirty="0">
                <a:solidFill>
                  <a:srgbClr val="F43F5E"/>
                </a:solidFill>
                <a:latin typeface="Arial" pitchFamily="34" charset="0"/>
                <a:ea typeface="Arial" pitchFamily="34" charset="-122"/>
                <a:cs typeface="Arial" pitchFamily="34" charset="-120"/>
              </a:rPr>
              <a:t>Key Operational Value: Bridging customer-facing portals with internal staff platforms eliminates the dreaded manual data re-entry trap. · Change of Ownership is one of our highest-risk transactions; digital verification ensures flawless compliance.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16/18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4: Mandatory e-Advice Transformation</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Transitioning Eligible Communications to Digital Channels: AIA+, Email, and Mobile SMS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Massive
</a:t>
            </a:r>
            <a:pPr indent="0" marL="0">
              <a:buNone/>
            </a:pPr>
            <a:r>
              <a:rPr lang="en-US" sz="750" b="1" dirty="0">
                <a:solidFill>
                  <a:srgbClr val="334155"/>
                </a:solidFill>
                <a:latin typeface="Arial" pitchFamily="34" charset="0"/>
                <a:ea typeface="Arial" pitchFamily="34" charset="-122"/>
                <a:cs typeface="Arial" pitchFamily="34" charset="-120"/>
              </a:rPr>
              <a:t>Paper Reductions
</a:t>
            </a:r>
            <a:pPr indent="0" marL="0">
              <a:buNone/>
            </a:pPr>
            <a:r>
              <a:rPr lang="en-US" sz="650" dirty="0">
                <a:solidFill>
                  <a:srgbClr val="64748B"/>
                </a:solidFill>
                <a:latin typeface="Arial" pitchFamily="34" charset="0"/>
                <a:ea typeface="Arial" pitchFamily="34" charset="-122"/>
                <a:cs typeface="Arial" pitchFamily="34" charset="-120"/>
              </a:rPr>
              <a:t>Printing, postage &amp; physical handling</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3 Channels
</a:t>
            </a:r>
            <a:pPr indent="0" marL="0">
              <a:buNone/>
            </a:pPr>
            <a:r>
              <a:rPr lang="en-US" sz="750" b="1" dirty="0">
                <a:solidFill>
                  <a:srgbClr val="334155"/>
                </a:solidFill>
                <a:latin typeface="Arial" pitchFamily="34" charset="0"/>
                <a:ea typeface="Arial" pitchFamily="34" charset="-122"/>
                <a:cs typeface="Arial" pitchFamily="34" charset="-120"/>
              </a:rPr>
              <a:t>Channels Used
</a:t>
            </a:r>
            <a:pPr indent="0" marL="0">
              <a:buNone/>
            </a:pPr>
            <a:r>
              <a:rPr lang="en-US" sz="650" dirty="0">
                <a:solidFill>
                  <a:srgbClr val="64748B"/>
                </a:solidFill>
                <a:latin typeface="Arial" pitchFamily="34" charset="0"/>
                <a:ea typeface="Arial" pitchFamily="34" charset="-122"/>
                <a:cs typeface="Arial" pitchFamily="34" charset="-120"/>
              </a:rPr>
              <a:t>AIA+ App · Email · Mobile SMS</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Mandatory
</a:t>
            </a:r>
            <a:pPr indent="0" marL="0">
              <a:buNone/>
            </a:pPr>
            <a:r>
              <a:rPr lang="en-US" sz="750" b="1" dirty="0">
                <a:solidFill>
                  <a:srgbClr val="334155"/>
                </a:solidFill>
                <a:latin typeface="Arial" pitchFamily="34" charset="0"/>
                <a:ea typeface="Arial" pitchFamily="34" charset="-122"/>
                <a:cs typeface="Arial" pitchFamily="34" charset="-120"/>
              </a:rPr>
              <a:t>Scope
</a:t>
            </a:r>
            <a:pPr indent="0" marL="0">
              <a:buNone/>
            </a:pPr>
            <a:r>
              <a:rPr lang="en-US" sz="650" dirty="0">
                <a:solidFill>
                  <a:srgbClr val="64748B"/>
                </a:solidFill>
                <a:latin typeface="Arial" pitchFamily="34" charset="0"/>
                <a:ea typeface="Arial" pitchFamily="34" charset="-122"/>
                <a:cs typeface="Arial" pitchFamily="34" charset="-120"/>
              </a:rPr>
              <a:t>Annual statements &amp; billing notices</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Green Ops
</a:t>
            </a:r>
            <a:pPr indent="0" marL="0">
              <a:buNone/>
            </a:pPr>
            <a:r>
              <a:rPr lang="en-US" sz="750" b="1" dirty="0">
                <a:solidFill>
                  <a:srgbClr val="334155"/>
                </a:solidFill>
                <a:latin typeface="Arial" pitchFamily="34" charset="0"/>
                <a:ea typeface="Arial" pitchFamily="34" charset="-122"/>
                <a:cs typeface="Arial" pitchFamily="34" charset="-120"/>
              </a:rPr>
              <a:t>ESG Target
</a:t>
            </a:r>
            <a:pPr indent="0" marL="0">
              <a:buNone/>
            </a:pPr>
            <a:r>
              <a:rPr lang="en-US" sz="650" dirty="0">
                <a:solidFill>
                  <a:srgbClr val="64748B"/>
                </a:solidFill>
                <a:latin typeface="Arial" pitchFamily="34" charset="0"/>
                <a:ea typeface="Arial" pitchFamily="34" charset="-122"/>
                <a:cs typeface="Arial" pitchFamily="34" charset="-120"/>
              </a:rPr>
              <a:t>Carbon reduction &amp; sustainability</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BAU INNOVATION #5
</a:t>
            </a:r>
            <a:pPr indent="0" marL="0">
              <a:buNone/>
            </a:pPr>
            <a:r>
              <a:rPr lang="en-US" sz="1000" b="1" dirty="0">
                <a:solidFill>
                  <a:srgbClr val="0F172A"/>
                </a:solidFill>
                <a:latin typeface="Arial" pitchFamily="34" charset="0"/>
                <a:ea typeface="Arial" pitchFamily="34" charset="-122"/>
                <a:cs typeface="Arial" pitchFamily="34" charset="-120"/>
              </a:rPr>
              <a:t>Mandatory e-Advice Implementation
</a:t>
            </a:r>
            <a:pPr indent="0" marL="0">
              <a:buNone/>
            </a:pPr>
            <a:r>
              <a:rPr lang="en-US" sz="750" dirty="0">
                <a:solidFill>
                  <a:srgbClr val="475569"/>
                </a:solidFill>
                <a:latin typeface="Arial" pitchFamily="34" charset="0"/>
                <a:ea typeface="Arial" pitchFamily="34" charset="-122"/>
                <a:cs typeface="Arial" pitchFamily="34" charset="-120"/>
              </a:rPr>
              <a:t>Successfully transitioned eligible policy communications from physical paper mailings to secure electronic delivery.
</a:t>
            </a:r>
            <a:pPr indent="0" marL="0">
              <a:buNone/>
            </a:pPr>
            <a:r>
              <a:rPr lang="en-US" sz="700" dirty="0">
                <a:solidFill>
                  <a:srgbClr val="1E293B"/>
                </a:solidFill>
                <a:latin typeface="Arial" pitchFamily="34" charset="0"/>
                <a:ea typeface="Arial" pitchFamily="34" charset="-122"/>
                <a:cs typeface="Arial" pitchFamily="34" charset="-120"/>
              </a:rPr>
              <a:t>• Encompasses high-volume annual statements, premium billing notices, and routine servicing notifications.
</a:t>
            </a:r>
            <a:pPr indent="0" marL="0">
              <a:buNone/>
            </a:pPr>
            <a:r>
              <a:rPr lang="en-US" sz="700" dirty="0">
                <a:solidFill>
                  <a:srgbClr val="1E293B"/>
                </a:solidFill>
                <a:latin typeface="Arial" pitchFamily="34" charset="0"/>
                <a:ea typeface="Arial" pitchFamily="34" charset="-122"/>
                <a:cs typeface="Arial" pitchFamily="34" charset="-120"/>
              </a:rPr>
              <a:t>• Leveraged multi-channel digital delivery through email, mobile SMS alerts, and deep links into the AIA+ customer app.
</a:t>
            </a:r>
            <a:pPr indent="0" marL="0">
              <a:buNone/>
            </a:pPr>
            <a:r>
              <a:rPr lang="en-US" sz="700" dirty="0">
                <a:solidFill>
                  <a:srgbClr val="1E293B"/>
                </a:solidFill>
                <a:latin typeface="Arial" pitchFamily="34" charset="0"/>
                <a:ea typeface="Arial" pitchFamily="34" charset="-122"/>
                <a:cs typeface="Arial" pitchFamily="34" charset="-120"/>
              </a:rPr>
              <a:t>• Implemented proactive advance customer communication campaigns to prepare policyholders and minimize inbound queries.
</a:t>
            </a:r>
            <a:pPr indent="0" marL="0">
              <a:buNone/>
            </a:pPr>
            <a:r>
              <a:rPr lang="en-US" sz="650" i="1" dirty="0">
                <a:solidFill>
                  <a:srgbClr val="64748B"/>
                </a:solidFill>
                <a:latin typeface="Arial" pitchFamily="34" charset="0"/>
                <a:ea typeface="Arial" pitchFamily="34" charset="-122"/>
                <a:cs typeface="Arial" pitchFamily="34" charset="-120"/>
              </a:rPr>
              <a:t>Focus: Mandatory e-Advice · AIA+ Integration · Advance Campaigns</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SUSTAINABLE IMPACT
</a:t>
            </a:r>
            <a:pPr indent="0" marL="0">
              <a:buNone/>
            </a:pPr>
            <a:r>
              <a:rPr lang="en-US" sz="1000" b="1" dirty="0">
                <a:solidFill>
                  <a:srgbClr val="0F172A"/>
                </a:solidFill>
                <a:latin typeface="Arial" pitchFamily="34" charset="0"/>
                <a:ea typeface="Arial" pitchFamily="34" charset="-122"/>
                <a:cs typeface="Arial" pitchFamily="34" charset="-120"/>
              </a:rPr>
              <a:t>Operational, Financial &amp; ESG Contributions
</a:t>
            </a:r>
            <a:pPr indent="0" marL="0">
              <a:buNone/>
            </a:pPr>
            <a:r>
              <a:rPr lang="en-US" sz="750" dirty="0">
                <a:solidFill>
                  <a:srgbClr val="475569"/>
                </a:solidFill>
                <a:latin typeface="Arial" pitchFamily="34" charset="0"/>
                <a:ea typeface="Arial" pitchFamily="34" charset="-122"/>
                <a:cs typeface="Arial" pitchFamily="34" charset="-120"/>
              </a:rPr>
              <a:t>Achieved meaningful cost reductions while advancing AIA corporate environmental and digital sustainability goals.
</a:t>
            </a:r>
            <a:pPr indent="0" marL="0">
              <a:buNone/>
            </a:pPr>
            <a:r>
              <a:rPr lang="en-US" sz="700" dirty="0">
                <a:solidFill>
                  <a:srgbClr val="1E293B"/>
                </a:solidFill>
                <a:latin typeface="Arial" pitchFamily="34" charset="0"/>
                <a:ea typeface="Arial" pitchFamily="34" charset="-122"/>
                <a:cs typeface="Arial" pitchFamily="34" charset="-120"/>
              </a:rPr>
              <a:t>• Substantially reduced paper consumption, secure printing overhead, postal fees, and physical mail handling labor.
</a:t>
            </a:r>
            <a:pPr indent="0" marL="0">
              <a:buNone/>
            </a:pPr>
            <a:r>
              <a:rPr lang="en-US" sz="700" dirty="0">
                <a:solidFill>
                  <a:srgbClr val="1E293B"/>
                </a:solidFill>
                <a:latin typeface="Arial" pitchFamily="34" charset="0"/>
                <a:ea typeface="Arial" pitchFamily="34" charset="-122"/>
                <a:cs typeface="Arial" pitchFamily="34" charset="-120"/>
              </a:rPr>
              <a:t>• Carefully engineered exception handling workflows for vulnerable customer segments, ensuring zero disruption or exclusion.
</a:t>
            </a:r>
            <a:pPr indent="0" marL="0">
              <a:buNone/>
            </a:pPr>
            <a:r>
              <a:rPr lang="en-US" sz="700" dirty="0">
                <a:solidFill>
                  <a:srgbClr val="1E293B"/>
                </a:solidFill>
                <a:latin typeface="Arial" pitchFamily="34" charset="0"/>
                <a:ea typeface="Arial" pitchFamily="34" charset="-122"/>
                <a:cs typeface="Arial" pitchFamily="34" charset="-120"/>
              </a:rPr>
              <a:t>• Established a scalable, modern communication infrastructure ready to support next-generation servicing products.
</a:t>
            </a:r>
            <a:pPr indent="0" marL="0">
              <a:buNone/>
            </a:pPr>
            <a:r>
              <a:rPr lang="en-US" sz="650" i="1" dirty="0">
                <a:solidFill>
                  <a:srgbClr val="64748B"/>
                </a:solidFill>
                <a:latin typeface="Arial" pitchFamily="34" charset="0"/>
                <a:ea typeface="Arial" pitchFamily="34" charset="-122"/>
                <a:cs typeface="Arial" pitchFamily="34" charset="-120"/>
              </a:rPr>
              <a:t>Focus: Cost Efficiency · ESG Sustainability · Robust Exceptions</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Annual Statement &amp; Billing Delivery: Paper Post vs. Mandatory e-Advice
</a:t>
            </a:r>
            <a:pPr indent="0" marL="0">
              <a:buNone/>
            </a:pPr>
            <a:r>
              <a:rPr lang="en-US" sz="650" dirty="0">
                <a:solidFill>
                  <a:srgbClr val="CBD5E1"/>
                </a:solidFill>
                <a:latin typeface="Arial" pitchFamily="34" charset="0"/>
                <a:ea typeface="Arial" pitchFamily="34" charset="-122"/>
                <a:cs typeface="Arial" pitchFamily="34" charset="-120"/>
              </a:rPr>
              <a:t>Delivery Speed: 5–10 business days via postal mail with risk of lost mail ➔ Instant digital notification on publication date via AIA+ and email (Impact: Immediate customer accessibility)   |   Operating Cost: High recurrent printing, envelop packaging, and postal tariffs ➔ Negligible digital marginal transmission cost (Impact: Substantial annual OPEX savings)   |   Environmental Impact: Tons of physical paper consumption and carbon emissions ➔ 100% paperless digital delivery aligned with ESG goals (Impact: Measurable environmental sustainability)
</a:t>
            </a:r>
            <a:pPr indent="0" marL="0">
              <a:buNone/>
            </a:pPr>
            <a:r>
              <a:rPr lang="en-US" sz="650" b="1" dirty="0">
                <a:solidFill>
                  <a:srgbClr val="F43F5E"/>
                </a:solidFill>
                <a:latin typeface="Arial" pitchFamily="34" charset="0"/>
                <a:ea typeface="Arial" pitchFamily="34" charset="-122"/>
                <a:cs typeface="Arial" pitchFamily="34" charset="-120"/>
              </a:rPr>
              <a:t>Key Operational Value: Mandatory e-Advice modernizes customer communications while unlocking permanent structural cost savings. · Thoughtful advance communication and exception management prevented customer friction during the transition.</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17/18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5: IRD CRS Audit &amp; MonQ HNW Framework</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Navigating On-Site Regulatory Reviews and Launching MonQ TAT Tracking for High-Net-Worth Brokers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700 Accounts
</a:t>
            </a:r>
            <a:pPr indent="0" marL="0">
              <a:buNone/>
            </a:pPr>
            <a:r>
              <a:rPr lang="en-US" sz="750" b="1" dirty="0">
                <a:solidFill>
                  <a:srgbClr val="334155"/>
                </a:solidFill>
                <a:latin typeface="Arial" pitchFamily="34" charset="0"/>
                <a:ea typeface="Arial" pitchFamily="34" charset="-122"/>
                <a:cs typeface="Arial" pitchFamily="34" charset="-120"/>
              </a:rPr>
              <a:t>IRD Audit Scope
</a:t>
            </a:r>
            <a:pPr indent="0" marL="0">
              <a:buNone/>
            </a:pPr>
            <a:r>
              <a:rPr lang="en-US" sz="650" dirty="0">
                <a:solidFill>
                  <a:srgbClr val="64748B"/>
                </a:solidFill>
                <a:latin typeface="Arial" pitchFamily="34" charset="0"/>
                <a:ea typeface="Arial" pitchFamily="34" charset="-122"/>
                <a:cs typeface="Arial" pitchFamily="34" charset="-120"/>
              </a:rPr>
              <a:t>AIAI HK, AIA Co &amp; AIAE inspected</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18 May 2026
</a:t>
            </a:r>
            <a:pPr indent="0" marL="0">
              <a:buNone/>
            </a:pPr>
            <a:r>
              <a:rPr lang="en-US" sz="750" b="1" dirty="0">
                <a:solidFill>
                  <a:srgbClr val="334155"/>
                </a:solidFill>
                <a:latin typeface="Arial" pitchFamily="34" charset="0"/>
                <a:ea typeface="Arial" pitchFamily="34" charset="-122"/>
                <a:cs typeface="Arial" pitchFamily="34" charset="-120"/>
              </a:rPr>
              <a:t>MonQ Launch
</a:t>
            </a:r>
            <a:pPr indent="0" marL="0">
              <a:buNone/>
            </a:pPr>
            <a:r>
              <a:rPr lang="en-US" sz="650" dirty="0">
                <a:solidFill>
                  <a:srgbClr val="64748B"/>
                </a:solidFill>
                <a:latin typeface="Arial" pitchFamily="34" charset="0"/>
                <a:ea typeface="Arial" pitchFamily="34" charset="-122"/>
                <a:cs typeface="Arial" pitchFamily="34" charset="-120"/>
              </a:rPr>
              <a:t>Systematic HNW request prioritization</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 June 2026
</a:t>
            </a:r>
            <a:pPr indent="0" marL="0">
              <a:buNone/>
            </a:pPr>
            <a:r>
              <a:rPr lang="en-US" sz="750" b="1" dirty="0">
                <a:solidFill>
                  <a:srgbClr val="334155"/>
                </a:solidFill>
                <a:latin typeface="Arial" pitchFamily="34" charset="0"/>
                <a:ea typeface="Arial" pitchFamily="34" charset="-122"/>
                <a:cs typeface="Arial" pitchFamily="34" charset="-120"/>
              </a:rPr>
              <a:t>TAT Framework
</a:t>
            </a:r>
            <a:pPr indent="0" marL="0">
              <a:buNone/>
            </a:pPr>
            <a:r>
              <a:rPr lang="en-US" sz="650" dirty="0">
                <a:solidFill>
                  <a:srgbClr val="64748B"/>
                </a:solidFill>
                <a:latin typeface="Arial" pitchFamily="34" charset="0"/>
                <a:ea typeface="Arial" pitchFamily="34" charset="-122"/>
                <a:cs typeface="Arial" pitchFamily="34" charset="-120"/>
              </a:rPr>
              <a:t>Guaranteed SLA delivery implementation</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Mercer
</a:t>
            </a:r>
            <a:pPr indent="0" marL="0">
              <a:buNone/>
            </a:pPr>
            <a:r>
              <a:rPr lang="en-US" sz="750" b="1" dirty="0">
                <a:solidFill>
                  <a:srgbClr val="334155"/>
                </a:solidFill>
                <a:latin typeface="Arial" pitchFamily="34" charset="0"/>
                <a:ea typeface="Arial" pitchFamily="34" charset="-122"/>
                <a:cs typeface="Arial" pitchFamily="34" charset="-120"/>
              </a:rPr>
              <a:t>Broker Partner
</a:t>
            </a:r>
            <a:pPr indent="0" marL="0">
              <a:buNone/>
            </a:pPr>
            <a:r>
              <a:rPr lang="en-US" sz="650" dirty="0">
                <a:solidFill>
                  <a:srgbClr val="64748B"/>
                </a:solidFill>
                <a:latin typeface="Arial" pitchFamily="34" charset="0"/>
                <a:ea typeface="Arial" pitchFamily="34" charset="-122"/>
                <a:cs typeface="Arial" pitchFamily="34" charset="-120"/>
              </a:rPr>
              <a:t>Completed review; expanding to all brokers</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REGULATORY AUDIT READINESS
</a:t>
            </a:r>
            <a:pPr indent="0" marL="0">
              <a:buNone/>
            </a:pPr>
            <a:r>
              <a:rPr lang="en-US" sz="1000" b="1" dirty="0">
                <a:solidFill>
                  <a:srgbClr val="0F172A"/>
                </a:solidFill>
                <a:latin typeface="Arial" pitchFamily="34" charset="0"/>
                <a:ea typeface="Arial" pitchFamily="34" charset="-122"/>
                <a:cs typeface="Arial" pitchFamily="34" charset="-120"/>
              </a:rPr>
              <a:t>IRD On-Site Inspection on CRS (Nov 2026)
</a:t>
            </a:r>
            <a:pPr indent="0" marL="0">
              <a:buNone/>
            </a:pPr>
            <a:r>
              <a:rPr lang="en-US" sz="750" dirty="0">
                <a:solidFill>
                  <a:srgbClr val="475569"/>
                </a:solidFill>
                <a:latin typeface="Arial" pitchFamily="34" charset="0"/>
                <a:ea typeface="Arial" pitchFamily="34" charset="-122"/>
                <a:cs typeface="Arial" pitchFamily="34" charset="-120"/>
              </a:rPr>
              <a:t>Delivered intensive, successful operational support for the Hong Kong Inland Revenue Department on-site CRS inspection.
</a:t>
            </a:r>
            <a:pPr indent="0" marL="0">
              <a:buNone/>
            </a:pPr>
            <a:r>
              <a:rPr lang="en-US" sz="700" dirty="0">
                <a:solidFill>
                  <a:srgbClr val="1E293B"/>
                </a:solidFill>
                <a:latin typeface="Arial" pitchFamily="34" charset="0"/>
                <a:ea typeface="Arial" pitchFamily="34" charset="-122"/>
                <a:cs typeface="Arial" pitchFamily="34" charset="-120"/>
              </a:rPr>
              <a:t>• Full-spectrum coverage: CRS Due Diligence, Change in Circumstances, Pre-existing Accounts, and Annual Reporting files.
</a:t>
            </a:r>
            <a:pPr indent="0" marL="0">
              <a:buNone/>
            </a:pPr>
            <a:r>
              <a:rPr lang="en-US" sz="700" dirty="0">
                <a:solidFill>
                  <a:srgbClr val="1E293B"/>
                </a:solidFill>
                <a:latin typeface="Arial" pitchFamily="34" charset="0"/>
                <a:ea typeface="Arial" pitchFamily="34" charset="-122"/>
                <a:cs typeface="Arial" pitchFamily="34" charset="-120"/>
              </a:rPr>
              <a:t>• Presented comprehensive SOPs and defended operational investigations across 700 selected accounts spanning AIAI HK, AIA Co, and AIAE.
</a:t>
            </a:r>
            <a:pPr indent="0" marL="0">
              <a:buNone/>
            </a:pPr>
            <a:r>
              <a:rPr lang="en-US" sz="700" dirty="0">
                <a:solidFill>
                  <a:srgbClr val="1E293B"/>
                </a:solidFill>
                <a:latin typeface="Arial" pitchFamily="34" charset="0"/>
                <a:ea typeface="Arial" pitchFamily="34" charset="-122"/>
                <a:cs typeface="Arial" pitchFamily="34" charset="-120"/>
              </a:rPr>
              <a:t>• Identified proactive remediation actions to continuously tighten regulatory compliance ahead of CRS 2.0 implementation.
</a:t>
            </a:r>
            <a:pPr indent="0" marL="0">
              <a:buNone/>
            </a:pPr>
            <a:r>
              <a:rPr lang="en-US" sz="650" i="1" dirty="0">
                <a:solidFill>
                  <a:srgbClr val="64748B"/>
                </a:solidFill>
                <a:latin typeface="Arial" pitchFamily="34" charset="0"/>
                <a:ea typeface="Arial" pitchFamily="34" charset="-122"/>
                <a:cs typeface="Arial" pitchFamily="34" charset="-120"/>
              </a:rPr>
              <a:t>Focus: IRD On-Site Inspection · 700 Accounts Inspected · Proactive Remediation</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HNW OPERATIONAL EXCELLENCE
</a:t>
            </a:r>
            <a:pPr indent="0" marL="0">
              <a:buNone/>
            </a:pPr>
            <a:r>
              <a:rPr lang="en-US" sz="1000" b="1" dirty="0">
                <a:solidFill>
                  <a:srgbClr val="0F172A"/>
                </a:solidFill>
                <a:latin typeface="Arial" pitchFamily="34" charset="0"/>
                <a:ea typeface="Arial" pitchFamily="34" charset="-122"/>
                <a:cs typeface="Arial" pitchFamily="34" charset="-120"/>
              </a:rPr>
              <a:t>MonQ HNW Identification &amp; SLA Framework
</a:t>
            </a:r>
            <a:pPr indent="0" marL="0">
              <a:buNone/>
            </a:pPr>
            <a:r>
              <a:rPr lang="en-US" sz="750" dirty="0">
                <a:solidFill>
                  <a:srgbClr val="475569"/>
                </a:solidFill>
                <a:latin typeface="Arial" pitchFamily="34" charset="0"/>
                <a:ea typeface="Arial" pitchFamily="34" charset="-122"/>
                <a:cs typeface="Arial" pitchFamily="34" charset="-120"/>
              </a:rPr>
              <a:t>Systematically scoped, identified, and prioritized High-Net-Worth policy change requests to deliver transparent SLAs.
</a:t>
            </a:r>
            <a:pPr indent="0" marL="0">
              <a:buNone/>
            </a:pPr>
            <a:r>
              <a:rPr lang="en-US" sz="700" dirty="0">
                <a:solidFill>
                  <a:srgbClr val="1E293B"/>
                </a:solidFill>
                <a:latin typeface="Arial" pitchFamily="34" charset="0"/>
                <a:ea typeface="Arial" pitchFamily="34" charset="-122"/>
                <a:cs typeface="Arial" pitchFamily="34" charset="-120"/>
              </a:rPr>
              <a:t>• MonQ system launched on 18 May 2026, enabling real-time tagging and prioritization of HNW requests in processing queues.
</a:t>
            </a:r>
            <a:pPr indent="0" marL="0">
              <a:buNone/>
            </a:pPr>
            <a:r>
              <a:rPr lang="en-US" sz="700" dirty="0">
                <a:solidFill>
                  <a:srgbClr val="1E293B"/>
                </a:solidFill>
                <a:latin typeface="Arial" pitchFamily="34" charset="0"/>
                <a:ea typeface="Arial" pitchFamily="34" charset="-122"/>
                <a:cs typeface="Arial" pitchFamily="34" charset="-120"/>
              </a:rPr>
              <a:t>• End-to-End TAT Framework implemented on 1 June 2026, establishing guaranteed SLAs and broker-facing performance reports.
</a:t>
            </a:r>
            <a:pPr indent="0" marL="0">
              <a:buNone/>
            </a:pPr>
            <a:r>
              <a:rPr lang="en-US" sz="700" dirty="0">
                <a:solidFill>
                  <a:srgbClr val="1E293B"/>
                </a:solidFill>
                <a:latin typeface="Arial" pitchFamily="34" charset="0"/>
                <a:ea typeface="Arial" pitchFamily="34" charset="-122"/>
                <a:cs typeface="Arial" pitchFamily="34" charset="-120"/>
              </a:rPr>
              <a:t>• Standardized HNW POS Checklists rolled out to Policy Documentation (PD) teams in May 2026; completed initial review with Mercer.
</a:t>
            </a:r>
            <a:pPr indent="0" marL="0">
              <a:buNone/>
            </a:pPr>
            <a:r>
              <a:rPr lang="en-US" sz="650" i="1" dirty="0">
                <a:solidFill>
                  <a:srgbClr val="64748B"/>
                </a:solidFill>
                <a:latin typeface="Arial" pitchFamily="34" charset="0"/>
                <a:ea typeface="Arial" pitchFamily="34" charset="-122"/>
                <a:cs typeface="Arial" pitchFamily="34" charset="-120"/>
              </a:rPr>
              <a:t>Focus: MonQ Launch · 1 June SLA Framework · Standardized Checklists</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MonQ HNW Policy Servicing &amp; Broker Transparency SLA Workflow
</a:t>
            </a:r>
            <a:pPr indent="0" marL="0">
              <a:buNone/>
            </a:pPr>
            <a:r>
              <a:rPr lang="en-US" sz="650" dirty="0">
                <a:solidFill>
                  <a:srgbClr val="CBD5E1"/>
                </a:solidFill>
                <a:latin typeface="Arial" pitchFamily="34" charset="0"/>
                <a:ea typeface="Arial" pitchFamily="34" charset="-122"/>
                <a:cs typeface="Arial" pitchFamily="34" charset="-120"/>
              </a:rPr>
              <a:t>[01] Systematic Scoping (Intake Engine): MonQ algorithm tags request as HNW based on premium tier, policy type, or broker code   |   [02] Checklist Execution (PD Specialist Pod): Handler executes standardized May 2026 HNW Checklist for trust/ownership changes   |   [03] TAT SLA Monitoring (MonQ Controller): Automated monitoring report tracks elapsed time against 1 June 2026 SLA benchmarks   |   [04] Broker Reporting (Business Partner Lead): Periodic TAT delivery and performance reporting shared directly with key brokers (e.g. Mercer)
</a:t>
            </a:r>
            <a:pPr indent="0" marL="0">
              <a:buNone/>
            </a:pPr>
            <a:r>
              <a:rPr lang="en-US" sz="650" b="1" dirty="0">
                <a:solidFill>
                  <a:srgbClr val="F43F5E"/>
                </a:solidFill>
                <a:latin typeface="Arial" pitchFamily="34" charset="0"/>
                <a:ea typeface="Arial" pitchFamily="34" charset="-122"/>
                <a:cs typeface="Arial" pitchFamily="34" charset="-120"/>
              </a:rPr>
              <a:t>Key Operational Value: Defending 700 accounts before the IRD proved that our operational documentation and audit trails are rock-solid. · MonQ transformed HNW servicing from an opaque queue into a transparent, SLA-governed competitive differentiator.</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31145"/>
          </a:solidFill>
          <a:ln w="12700">
            <a:solidFill>
              <a:srgbClr val="D31145"/>
            </a:solidFill>
            <a:prstDash val="solid"/>
          </a:ln>
        </p:spPr>
      </p:sp>
      <p:sp>
        <p:nvSpPr>
          <p:cNvPr id="3" name="Text 1"/>
          <p:cNvSpPr/>
          <p:nvPr/>
        </p:nvSpPr>
        <p:spPr>
          <a:xfrm>
            <a:off x="365760" y="137160"/>
            <a:ext cx="8412480" cy="201168"/>
          </a:xfrm>
          <a:prstGeom prst="rect">
            <a:avLst/>
          </a:prstGeom>
          <a:noFill/>
          <a:ln/>
        </p:spPr>
        <p:txBody>
          <a:bodyPr wrap="square" rtlCol="0" anchor="ctr"/>
          <a:lstStyle/>
          <a:p>
            <a:pPr indent="0" marL="0">
              <a:buNone/>
            </a:pPr>
            <a:r>
              <a:rPr lang="en-US" sz="750" b="1" dirty="0">
                <a:solidFill>
                  <a:srgbClr val="D31145"/>
                </a:solidFill>
                <a:latin typeface="Arial" pitchFamily="34" charset="0"/>
                <a:ea typeface="Arial" pitchFamily="34" charset="-122"/>
                <a:cs typeface="Arial" pitchFamily="34" charset="-120"/>
              </a:rPr>
              <a:t>SECTION 03 · LESSONS LEARNED &amp; INNOVATION   |   AIA HONG KONG POS   |   SLIDE 18/18</a:t>
            </a:r>
            <a:endParaRPr lang="en-US" sz="750" dirty="0"/>
          </a:p>
        </p:txBody>
      </p:sp>
      <p:sp>
        <p:nvSpPr>
          <p:cNvPr id="4" name="Text 2"/>
          <p:cNvSpPr/>
          <p:nvPr/>
        </p:nvSpPr>
        <p:spPr>
          <a:xfrm>
            <a:off x="365760" y="347472"/>
            <a:ext cx="841248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Lessons Learned 6: Citibank Lockbox Migration &amp; Payment Security</a:t>
            </a:r>
            <a:endParaRPr lang="en-US" sz="1500" dirty="0"/>
          </a:p>
        </p:txBody>
      </p:sp>
      <p:sp>
        <p:nvSpPr>
          <p:cNvPr id="5" name="Text 3"/>
          <p:cNvSpPr/>
          <p:nvPr/>
        </p:nvSpPr>
        <p:spPr>
          <a:xfrm>
            <a:off x="365760" y="713232"/>
            <a:ext cx="8412480" cy="256032"/>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Safeguarding Premium Collection Continuity and Decommissioning Legacy Insecure File Transfer Protocols</a:t>
            </a:r>
            <a:endParaRPr lang="en-US" sz="900" dirty="0"/>
          </a:p>
        </p:txBody>
      </p:sp>
      <p:sp>
        <p:nvSpPr>
          <p:cNvPr id="6" name="Shape 4"/>
          <p:cNvSpPr/>
          <p:nvPr/>
        </p:nvSpPr>
        <p:spPr>
          <a:xfrm>
            <a:off x="365760" y="1024128"/>
            <a:ext cx="1965960" cy="594360"/>
          </a:xfrm>
          <a:prstGeom prst="roundRect">
            <a:avLst>
              <a:gd name="adj" fmla="val 7692"/>
            </a:avLst>
          </a:prstGeom>
          <a:solidFill>
            <a:srgbClr val="F8FAFC"/>
          </a:solidFill>
          <a:ln w="9525">
            <a:solidFill>
              <a:srgbClr val="CBD5E1"/>
            </a:solidFill>
            <a:prstDash val="solid"/>
          </a:ln>
        </p:spPr>
      </p:sp>
      <p:sp>
        <p:nvSpPr>
          <p:cNvPr id="7" name="Text 5"/>
          <p:cNvSpPr/>
          <p:nvPr/>
        </p:nvSpPr>
        <p:spPr>
          <a:xfrm>
            <a:off x="43891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2026 In Progress
</a:t>
            </a:r>
            <a:pPr indent="0" marL="0">
              <a:buNone/>
            </a:pPr>
            <a:r>
              <a:rPr lang="en-US" sz="750" b="1" dirty="0">
                <a:solidFill>
                  <a:srgbClr val="334155"/>
                </a:solidFill>
                <a:latin typeface="Arial" pitchFamily="34" charset="0"/>
                <a:ea typeface="Arial" pitchFamily="34" charset="-122"/>
                <a:cs typeface="Arial" pitchFamily="34" charset="-120"/>
              </a:rPr>
              <a:t>Lockbox Transition
</a:t>
            </a:r>
            <a:pPr indent="0" marL="0">
              <a:buNone/>
            </a:pPr>
            <a:r>
              <a:rPr lang="en-US" sz="650" dirty="0">
                <a:solidFill>
                  <a:srgbClr val="64748B"/>
                </a:solidFill>
                <a:latin typeface="Arial" pitchFamily="34" charset="0"/>
                <a:ea typeface="Arial" pitchFamily="34" charset="-122"/>
                <a:cs typeface="Arial" pitchFamily="34" charset="-120"/>
              </a:rPr>
              <a:t>Citibank Lockbox discontinuation</a:t>
            </a:r>
            <a:endParaRPr lang="en-US" sz="1300" dirty="0"/>
          </a:p>
        </p:txBody>
      </p:sp>
      <p:sp>
        <p:nvSpPr>
          <p:cNvPr id="8" name="Shape 6"/>
          <p:cNvSpPr/>
          <p:nvPr/>
        </p:nvSpPr>
        <p:spPr>
          <a:xfrm>
            <a:off x="2514600" y="1024128"/>
            <a:ext cx="1965960" cy="594360"/>
          </a:xfrm>
          <a:prstGeom prst="roundRect">
            <a:avLst>
              <a:gd name="adj" fmla="val 7692"/>
            </a:avLst>
          </a:prstGeom>
          <a:solidFill>
            <a:srgbClr val="F8FAFC"/>
          </a:solidFill>
          <a:ln w="9525">
            <a:solidFill>
              <a:srgbClr val="CBD5E1"/>
            </a:solidFill>
            <a:prstDash val="solid"/>
          </a:ln>
        </p:spPr>
      </p:sp>
      <p:sp>
        <p:nvSpPr>
          <p:cNvPr id="9" name="Text 7"/>
          <p:cNvSpPr/>
          <p:nvPr/>
        </p:nvSpPr>
        <p:spPr>
          <a:xfrm>
            <a:off x="258775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CitiDirect
</a:t>
            </a:r>
            <a:pPr indent="0" marL="0">
              <a:buNone/>
            </a:pPr>
            <a:r>
              <a:rPr lang="en-US" sz="750" b="1" dirty="0">
                <a:solidFill>
                  <a:srgbClr val="334155"/>
                </a:solidFill>
                <a:latin typeface="Arial" pitchFamily="34" charset="0"/>
                <a:ea typeface="Arial" pitchFamily="34" charset="-122"/>
                <a:cs typeface="Arial" pitchFamily="34" charset="-120"/>
              </a:rPr>
              <a:t>Infrastructure
</a:t>
            </a:r>
            <a:pPr indent="0" marL="0">
              <a:buNone/>
            </a:pPr>
            <a:r>
              <a:rPr lang="en-US" sz="650" dirty="0">
                <a:solidFill>
                  <a:srgbClr val="64748B"/>
                </a:solidFill>
                <a:latin typeface="Arial" pitchFamily="34" charset="0"/>
                <a:ea typeface="Arial" pitchFamily="34" charset="-122"/>
                <a:cs typeface="Arial" pitchFamily="34" charset="-120"/>
              </a:rPr>
              <a:t>Migrated away from legacy WS_FTP</a:t>
            </a:r>
            <a:endParaRPr lang="en-US" sz="1300" dirty="0"/>
          </a:p>
        </p:txBody>
      </p:sp>
      <p:sp>
        <p:nvSpPr>
          <p:cNvPr id="10" name="Shape 8"/>
          <p:cNvSpPr/>
          <p:nvPr/>
        </p:nvSpPr>
        <p:spPr>
          <a:xfrm>
            <a:off x="4663440" y="1024128"/>
            <a:ext cx="1965960" cy="594360"/>
          </a:xfrm>
          <a:prstGeom prst="roundRect">
            <a:avLst>
              <a:gd name="adj" fmla="val 7692"/>
            </a:avLst>
          </a:prstGeom>
          <a:solidFill>
            <a:srgbClr val="F8FAFC"/>
          </a:solidFill>
          <a:ln w="9525">
            <a:solidFill>
              <a:srgbClr val="CBD5E1"/>
            </a:solidFill>
            <a:prstDash val="solid"/>
          </a:ln>
        </p:spPr>
      </p:sp>
      <p:sp>
        <p:nvSpPr>
          <p:cNvPr id="11" name="Text 9"/>
          <p:cNvSpPr/>
          <p:nvPr/>
        </p:nvSpPr>
        <p:spPr>
          <a:xfrm>
            <a:off x="473659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Mini-Storage
</a:t>
            </a:r>
            <a:pPr indent="0" marL="0">
              <a:buNone/>
            </a:pPr>
            <a:r>
              <a:rPr lang="en-US" sz="750" b="1" dirty="0">
                <a:solidFill>
                  <a:srgbClr val="334155"/>
                </a:solidFill>
                <a:latin typeface="Arial" pitchFamily="34" charset="0"/>
                <a:ea typeface="Arial" pitchFamily="34" charset="-122"/>
                <a:cs typeface="Arial" pitchFamily="34" charset="-120"/>
              </a:rPr>
              <a:t>Decommissioning
</a:t>
            </a:r>
            <a:pPr indent="0" marL="0">
              <a:buNone/>
            </a:pPr>
            <a:r>
              <a:rPr lang="en-US" sz="650" dirty="0">
                <a:solidFill>
                  <a:srgbClr val="64748B"/>
                </a:solidFill>
                <a:latin typeface="Arial" pitchFamily="34" charset="0"/>
                <a:ea typeface="Arial" pitchFamily="34" charset="-122"/>
                <a:cs typeface="Arial" pitchFamily="34" charset="-120"/>
              </a:rPr>
              <a:t>Secure external file exchange retired</a:t>
            </a:r>
            <a:endParaRPr lang="en-US" sz="1300" dirty="0"/>
          </a:p>
        </p:txBody>
      </p:sp>
      <p:sp>
        <p:nvSpPr>
          <p:cNvPr id="12" name="Shape 10"/>
          <p:cNvSpPr/>
          <p:nvPr/>
        </p:nvSpPr>
        <p:spPr>
          <a:xfrm>
            <a:off x="6812280" y="1024128"/>
            <a:ext cx="1965960" cy="594360"/>
          </a:xfrm>
          <a:prstGeom prst="roundRect">
            <a:avLst>
              <a:gd name="adj" fmla="val 7692"/>
            </a:avLst>
          </a:prstGeom>
          <a:solidFill>
            <a:srgbClr val="F8FAFC"/>
          </a:solidFill>
          <a:ln w="9525">
            <a:solidFill>
              <a:srgbClr val="CBD5E1"/>
            </a:solidFill>
            <a:prstDash val="solid"/>
          </a:ln>
        </p:spPr>
      </p:sp>
      <p:sp>
        <p:nvSpPr>
          <p:cNvPr id="13" name="Text 11"/>
          <p:cNvSpPr/>
          <p:nvPr/>
        </p:nvSpPr>
        <p:spPr>
          <a:xfrm>
            <a:off x="6885432" y="1060704"/>
            <a:ext cx="1819656" cy="521208"/>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100% Protected
</a:t>
            </a:r>
            <a:pPr indent="0" marL="0">
              <a:buNone/>
            </a:pPr>
            <a:r>
              <a:rPr lang="en-US" sz="750" b="1" dirty="0">
                <a:solidFill>
                  <a:srgbClr val="334155"/>
                </a:solidFill>
                <a:latin typeface="Arial" pitchFamily="34" charset="0"/>
                <a:ea typeface="Arial" pitchFamily="34" charset="-122"/>
                <a:cs typeface="Arial" pitchFamily="34" charset="-120"/>
              </a:rPr>
              <a:t>Business Continuity
</a:t>
            </a:r>
            <a:pPr indent="0" marL="0">
              <a:buNone/>
            </a:pPr>
            <a:r>
              <a:rPr lang="en-US" sz="650" dirty="0">
                <a:solidFill>
                  <a:srgbClr val="64748B"/>
                </a:solidFill>
                <a:latin typeface="Arial" pitchFamily="34" charset="0"/>
                <a:ea typeface="Arial" pitchFamily="34" charset="-122"/>
                <a:cs typeface="Arial" pitchFamily="34" charset="-120"/>
              </a:rPr>
              <a:t>Zero interruption to premium inflow</a:t>
            </a:r>
            <a:endParaRPr lang="en-US" sz="1300" dirty="0"/>
          </a:p>
        </p:txBody>
      </p:sp>
      <p:sp>
        <p:nvSpPr>
          <p:cNvPr id="14" name="Shape 12"/>
          <p:cNvSpPr/>
          <p:nvPr/>
        </p:nvSpPr>
        <p:spPr>
          <a:xfrm>
            <a:off x="365760" y="1700784"/>
            <a:ext cx="4069080" cy="1874520"/>
          </a:xfrm>
          <a:prstGeom prst="rect">
            <a:avLst/>
          </a:prstGeom>
          <a:solidFill>
            <a:srgbClr val="FFFFFF"/>
          </a:solidFill>
          <a:ln w="9525">
            <a:solidFill>
              <a:srgbClr val="E2E8F0"/>
            </a:solidFill>
            <a:prstDash val="solid"/>
          </a:ln>
        </p:spPr>
      </p:sp>
      <p:sp>
        <p:nvSpPr>
          <p:cNvPr id="15" name="Text 13"/>
          <p:cNvSpPr/>
          <p:nvPr/>
        </p:nvSpPr>
        <p:spPr>
          <a:xfrm>
            <a:off x="4754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PAYMENT INFRASTRUCTURE #1
</a:t>
            </a:r>
            <a:pPr indent="0" marL="0">
              <a:buNone/>
            </a:pPr>
            <a:r>
              <a:rPr lang="en-US" sz="1000" b="1" dirty="0">
                <a:solidFill>
                  <a:srgbClr val="0F172A"/>
                </a:solidFill>
                <a:latin typeface="Arial" pitchFamily="34" charset="0"/>
                <a:ea typeface="Arial" pitchFamily="34" charset="-122"/>
                <a:cs typeface="Arial" pitchFamily="34" charset="-120"/>
              </a:rPr>
              <a:t>Transform Lockbox &amp; Cheque Collection
</a:t>
            </a:r>
            <a:pPr indent="0" marL="0">
              <a:buNone/>
            </a:pPr>
            <a:r>
              <a:rPr lang="en-US" sz="750" dirty="0">
                <a:solidFill>
                  <a:srgbClr val="475569"/>
                </a:solidFill>
                <a:latin typeface="Arial" pitchFamily="34" charset="0"/>
                <a:ea typeface="Arial" pitchFamily="34" charset="-122"/>
                <a:cs typeface="Arial" pitchFamily="34" charset="-120"/>
              </a:rPr>
              <a:t>Safeguarding premium collection flows following Citibank discontinuation of commercial Lockbox cheque services.
</a:t>
            </a:r>
            <a:pPr indent="0" marL="0">
              <a:buNone/>
            </a:pPr>
            <a:r>
              <a:rPr lang="en-US" sz="700" dirty="0">
                <a:solidFill>
                  <a:srgbClr val="1E293B"/>
                </a:solidFill>
                <a:latin typeface="Arial" pitchFamily="34" charset="0"/>
                <a:ea typeface="Arial" pitchFamily="34" charset="-122"/>
                <a:cs typeface="Arial" pitchFamily="34" charset="-120"/>
              </a:rPr>
              <a:t>• Transitioning toward a sustainable in-house and bank-partnered cheque-handling model administered by POS Cashier.
</a:t>
            </a:r>
            <a:pPr indent="0" marL="0">
              <a:buNone/>
            </a:pPr>
            <a:r>
              <a:rPr lang="en-US" sz="700" dirty="0">
                <a:solidFill>
                  <a:srgbClr val="1E293B"/>
                </a:solidFill>
                <a:latin typeface="Arial" pitchFamily="34" charset="0"/>
                <a:ea typeface="Arial" pitchFamily="34" charset="-122"/>
                <a:cs typeface="Arial" pitchFamily="34" charset="-120"/>
              </a:rPr>
              <a:t>• Guarantees total business continuity and uninterrupted premium crediting for policyholders who still remit physical cheques.
</a:t>
            </a:r>
            <a:pPr indent="0" marL="0">
              <a:buNone/>
            </a:pPr>
            <a:r>
              <a:rPr lang="en-US" sz="700" dirty="0">
                <a:solidFill>
                  <a:srgbClr val="1E293B"/>
                </a:solidFill>
                <a:latin typeface="Arial" pitchFamily="34" charset="0"/>
                <a:ea typeface="Arial" pitchFamily="34" charset="-122"/>
                <a:cs typeface="Arial" pitchFamily="34" charset="-120"/>
              </a:rPr>
              <a:t>• Implemented rigorous physical cheque tracking, security envelopes, and daily bank deposit reconciliation controls.
</a:t>
            </a:r>
            <a:pPr indent="0" marL="0">
              <a:buNone/>
            </a:pPr>
            <a:r>
              <a:rPr lang="en-US" sz="650" i="1" dirty="0">
                <a:solidFill>
                  <a:srgbClr val="64748B"/>
                </a:solidFill>
                <a:latin typeface="Arial" pitchFamily="34" charset="0"/>
                <a:ea typeface="Arial" pitchFamily="34" charset="-122"/>
                <a:cs typeface="Arial" pitchFamily="34" charset="-120"/>
              </a:rPr>
              <a:t>Focus: Lockbox Transition · Cheque Continuity · Cashier Administration</a:t>
            </a:r>
            <a:endParaRPr lang="en-US" sz="700" dirty="0"/>
          </a:p>
        </p:txBody>
      </p:sp>
      <p:sp>
        <p:nvSpPr>
          <p:cNvPr id="16" name="Shape 14"/>
          <p:cNvSpPr/>
          <p:nvPr/>
        </p:nvSpPr>
        <p:spPr>
          <a:xfrm>
            <a:off x="4709160" y="1700784"/>
            <a:ext cx="4069080" cy="1874520"/>
          </a:xfrm>
          <a:prstGeom prst="rect">
            <a:avLst/>
          </a:prstGeom>
          <a:solidFill>
            <a:srgbClr val="FFFFFF"/>
          </a:solidFill>
          <a:ln w="9525">
            <a:solidFill>
              <a:srgbClr val="E2E8F0"/>
            </a:solidFill>
            <a:prstDash val="solid"/>
          </a:ln>
        </p:spPr>
      </p:sp>
      <p:sp>
        <p:nvSpPr>
          <p:cNvPr id="17" name="Text 15"/>
          <p:cNvSpPr/>
          <p:nvPr/>
        </p:nvSpPr>
        <p:spPr>
          <a:xfrm>
            <a:off x="4818888" y="1773936"/>
            <a:ext cx="3849624" cy="1728216"/>
          </a:xfrm>
          <a:prstGeom prst="rect">
            <a:avLst/>
          </a:prstGeom>
          <a:noFill/>
          <a:ln/>
        </p:spPr>
        <p:txBody>
          <a:bodyPr wrap="square" lIns="0" tIns="0" rIns="0" bIns="0" rtlCol="0" anchor="ctr"/>
          <a:lstStyle/>
          <a:p>
            <a:pPr indent="0" marL="0">
              <a:buNone/>
            </a:pPr>
            <a:r>
              <a:rPr lang="en-US" sz="700" b="1" dirty="0">
                <a:solidFill>
                  <a:srgbClr val="D31145"/>
                </a:solidFill>
                <a:latin typeface="Arial" pitchFamily="34" charset="0"/>
                <a:ea typeface="Arial" pitchFamily="34" charset="-122"/>
                <a:cs typeface="Arial" pitchFamily="34" charset="-120"/>
              </a:rPr>
              <a:t>PAYMENT INFRASTRUCTURE #2 (DONE 2026)
</a:t>
            </a:r>
            <a:pPr indent="0" marL="0">
              <a:buNone/>
            </a:pPr>
            <a:r>
              <a:rPr lang="en-US" sz="1000" b="1" dirty="0">
                <a:solidFill>
                  <a:srgbClr val="0F172A"/>
                </a:solidFill>
                <a:latin typeface="Arial" pitchFamily="34" charset="0"/>
                <a:ea typeface="Arial" pitchFamily="34" charset="-122"/>
                <a:cs typeface="Arial" pitchFamily="34" charset="-120"/>
              </a:rPr>
              <a:t>Modernise Payment Infrastructure &amp; Security
</a:t>
            </a:r>
            <a:pPr indent="0" marL="0">
              <a:buNone/>
            </a:pPr>
            <a:r>
              <a:rPr lang="en-US" sz="750" dirty="0">
                <a:solidFill>
                  <a:srgbClr val="475569"/>
                </a:solidFill>
                <a:latin typeface="Arial" pitchFamily="34" charset="0"/>
                <a:ea typeface="Arial" pitchFamily="34" charset="-122"/>
                <a:cs typeface="Arial" pitchFamily="34" charset="-120"/>
              </a:rPr>
              <a:t>Decommissioning vulnerable legacy file transfer mechanisms to comply with enterprise cybersecurity mandates.
</a:t>
            </a:r>
            <a:pPr indent="0" marL="0">
              <a:buNone/>
            </a:pPr>
            <a:r>
              <a:rPr lang="en-US" sz="700" dirty="0">
                <a:solidFill>
                  <a:srgbClr val="1E293B"/>
                </a:solidFill>
                <a:latin typeface="Arial" pitchFamily="34" charset="0"/>
                <a:ea typeface="Arial" pitchFamily="34" charset="-122"/>
                <a:cs typeface="Arial" pitchFamily="34" charset="-120"/>
              </a:rPr>
              <a:t>• Successfully transitioned recurring Autopay mandate file uploads away from legacy WS_FTP toward secure CitiDirect APIs.
</a:t>
            </a:r>
            <a:pPr indent="0" marL="0">
              <a:buNone/>
            </a:pPr>
            <a:r>
              <a:rPr lang="en-US" sz="700" dirty="0">
                <a:solidFill>
                  <a:srgbClr val="1E293B"/>
                </a:solidFill>
                <a:latin typeface="Arial" pitchFamily="34" charset="0"/>
                <a:ea typeface="Arial" pitchFamily="34" charset="-122"/>
                <a:cs typeface="Arial" pitchFamily="34" charset="-120"/>
              </a:rPr>
              <a:t>• Successfully decommissioned legacy "Secure Mini-Storage" used for external payment file exchange, eliminating cyber risk.
</a:t>
            </a:r>
            <a:pPr indent="0" marL="0">
              <a:buNone/>
            </a:pPr>
            <a:r>
              <a:rPr lang="en-US" sz="700" dirty="0">
                <a:solidFill>
                  <a:srgbClr val="1E293B"/>
                </a:solidFill>
                <a:latin typeface="Arial" pitchFamily="34" charset="0"/>
                <a:ea typeface="Arial" pitchFamily="34" charset="-122"/>
                <a:cs typeface="Arial" pitchFamily="34" charset="-120"/>
              </a:rPr>
              <a:t>• Instituted automated encryption, mutual TLS handshakes, and tamper-evident audit logging for all bank clearance files.
</a:t>
            </a:r>
            <a:pPr indent="0" marL="0">
              <a:buNone/>
            </a:pPr>
            <a:r>
              <a:rPr lang="en-US" sz="650" i="1" dirty="0">
                <a:solidFill>
                  <a:srgbClr val="64748B"/>
                </a:solidFill>
                <a:latin typeface="Arial" pitchFamily="34" charset="0"/>
                <a:ea typeface="Arial" pitchFamily="34" charset="-122"/>
                <a:cs typeface="Arial" pitchFamily="34" charset="-120"/>
              </a:rPr>
              <a:t>Focus: CitiDirect Migration · WS_FTP Retired · Mini-Storage Decommissioned</a:t>
            </a:r>
            <a:endParaRPr lang="en-US" sz="700" dirty="0"/>
          </a:p>
        </p:txBody>
      </p:sp>
      <p:sp>
        <p:nvSpPr>
          <p:cNvPr id="18" name="Shape 16"/>
          <p:cNvSpPr/>
          <p:nvPr/>
        </p:nvSpPr>
        <p:spPr>
          <a:xfrm>
            <a:off x="365760" y="3657600"/>
            <a:ext cx="8412480" cy="1234440"/>
          </a:xfrm>
          <a:prstGeom prst="rect">
            <a:avLst/>
          </a:prstGeom>
          <a:solidFill>
            <a:srgbClr val="0B192C"/>
          </a:solidFill>
          <a:ln w="6350">
            <a:solidFill>
              <a:srgbClr val="1E293B"/>
            </a:solidFill>
            <a:prstDash val="solid"/>
          </a:ln>
        </p:spPr>
      </p:sp>
      <p:sp>
        <p:nvSpPr>
          <p:cNvPr id="19" name="Text 17"/>
          <p:cNvSpPr/>
          <p:nvPr/>
        </p:nvSpPr>
        <p:spPr>
          <a:xfrm>
            <a:off x="457200" y="3730752"/>
            <a:ext cx="8229600" cy="1088136"/>
          </a:xfrm>
          <a:prstGeom prst="rect">
            <a:avLst/>
          </a:prstGeom>
          <a:noFill/>
          <a:ln/>
        </p:spPr>
        <p:txBody>
          <a:bodyPr wrap="square" lIns="0" tIns="0" rIns="0" bIns="0" rtlCol="0" anchor="ctr"/>
          <a:lstStyle/>
          <a:p>
            <a:pPr indent="0" marL="0">
              <a:buNone/>
            </a:pPr>
            <a:r>
              <a:rPr lang="en-US" sz="750" b="1" dirty="0">
                <a:solidFill>
                  <a:srgbClr val="E2E8F0"/>
                </a:solidFill>
                <a:latin typeface="Arial" pitchFamily="34" charset="0"/>
                <a:ea typeface="Arial" pitchFamily="34" charset="-122"/>
                <a:cs typeface="Arial" pitchFamily="34" charset="-120"/>
              </a:rPr>
              <a:t>OPERATIONAL ARCHITECTURE &amp; GOVERNANCE: Payment Infrastructure Security Modernization (2026 Achievements)
</a:t>
            </a:r>
            <a:pPr indent="0" marL="0">
              <a:buNone/>
            </a:pPr>
            <a:r>
              <a:rPr lang="en-US" sz="650" dirty="0">
                <a:solidFill>
                  <a:srgbClr val="CBD5E1"/>
                </a:solidFill>
                <a:latin typeface="Arial" pitchFamily="34" charset="0"/>
                <a:ea typeface="Arial" pitchFamily="34" charset="-122"/>
                <a:cs typeface="Arial" pitchFamily="34" charset="-120"/>
              </a:rPr>
              <a:t>Autopay Upload Rail: Legacy WS_FTP protocol with manual file movement and credentials ➔ Direct, automated CitiDirect enterprise host-to-host integration (Impact: Eliminated cyber vulnerability &amp; manual errors)   |   External File Exchange: Aging "Secure Mini-Storage" repository for payment partner files ➔ Decommissioned; replaced with enterprise encrypted cloud rails (Impact: Compliance with AIA InfoSec standards)   |   Cheque Remittance: Citibank commercial lockbox mailbox processing ➔ Sustainable cashier-administered cheque processing &amp; digital transition (Impact: Business continuity protected post-lockbox)
</a:t>
            </a:r>
            <a:pPr indent="0" marL="0">
              <a:buNone/>
            </a:pPr>
            <a:r>
              <a:rPr lang="en-US" sz="650" b="1" dirty="0">
                <a:solidFill>
                  <a:srgbClr val="F43F5E"/>
                </a:solidFill>
                <a:latin typeface="Arial" pitchFamily="34" charset="0"/>
                <a:ea typeface="Arial" pitchFamily="34" charset="-122"/>
                <a:cs typeface="Arial" pitchFamily="34" charset="-120"/>
              </a:rPr>
              <a:t>Key Operational Value: Retiring legacy WS_FTP and Secure Mini-Storage eliminates severe security liabilities from our payment perimeter. · The cashier-managed cheque model protected premium continuity when Citibank discontinued commercial lockbox services.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AIA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 Hong Kong Policy Owner Services - Operations Strategy &amp; Innovation</dc:title>
  <dc:subject>Policy Owner Services Strategy &amp; Innovation Deck</dc:subject>
  <dc:creator>PptxGenJS</dc:creator>
  <cp:lastModifiedBy>PptxGenJS</cp:lastModifiedBy>
  <cp:revision>1</cp:revision>
  <dcterms:created xsi:type="dcterms:W3CDTF">2026-10-23T07:58:51Z</dcterms:created>
  <dcterms:modified xsi:type="dcterms:W3CDTF">2026-10-23T07:58:51Z</dcterms:modified>
</cp:coreProperties>
</file>